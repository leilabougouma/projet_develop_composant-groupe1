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e" id="{118a4e6d-e062-5db1-8630-177808741a60}">
          <p14:sldIdLst>
            <p14:sldId id="256"/>
            <p14:sldId id="257"/>
            <p14:sldId id="258"/>
            <p14:sldId id="259"/>
          </p14:sldIdLst>
        </p14:section>
        <p14:section name="ETL" id="{107778f1-a94f-ab4a-728b-05413017d066}">
          <p14:sldIdLst>
            <p14:sldId id="260"/>
            <p14:sldId id="261"/>
            <p14:sldId id="262"/>
          </p14:sldIdLst>
        </p14:section>
        <p14:section name="API" id="{399df12b-54fe-2ee8-6d39-071ef2f5461d}">
          <p14:sldIdLst>
            <p14:sldId id="263"/>
            <p14:sldId id="264"/>
            <p14:sldId id="265"/>
          </p14:sldIdLst>
        </p14:section>
        <p14:section name="Supervision" id="{91bd55fb-8088-87d6-64ab-a45f713afb0a}">
          <p14:sldIdLst>
            <p14:sldId id="266"/>
          </p14:sldIdLst>
        </p14:section>
        <p14:section name="Tests" id="{07d65be1-0f58-168a-4b45-401372df9c16}">
          <p14:sldIdLst>
            <p14:sldId id="267"/>
            <p14:sldId id="268"/>
          </p14:sldIdLst>
        </p14:section>
        <p14:section name="Conclusion" id="{4f2b8243-47ed-7bb3-e1c4-6305d0184581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« Nous avons 40 lignes de produits, dont 10 sont inutilisables. Voici comment notre chaîne les détecte, charge les 29 bonnes, et les expose dans une API supervisée. » Présenter les cinq membres et leur partie : bases de données (Leïla), ETL (Landry), API (Osiris), supervision (Malika), tests (Stéphane).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Montrer, ne pas décrire. Ligne 35 : prix de -1500. Lignes 31 à 34, 37, 38 et 40 : champs obligatoires vides (7 lignes). Ligne 36 : quantité négative. Ligne 39 : catégorie inconnue « jouets ». Ligne 30 : doublon de « Souris sans fil ». Une base comme celle-ci ne peut pas alimenter une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Suivre le schéma de gauche à droite : les données entrent par MySQL, l'ETL les nettoie, PostgreSQL les garde propres, l'API les expose, Prometheus la surveille. Insister : tout est dans Docker. L'API ne lit et n'écrit que dans PostgreSQL ; MySQL n'est jamais modifiée par l'API.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seul message : n'importe qui peut relancer le projet. Citer le fichier .env : aucun mot de passe dans le dépôt, seulement .env.example. Les scripts SQL du dossier db/ s'exécutent automatiquement au premier démarrage des conteneurs.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Prendre un exemple de bout en bout : « ÉLECTRONIQUE » devient « electronique » puis « Electronique » grâce au référentiel etl/referentiel/categories.csv. Une catégorie inconnue (« jouets ») est rejetée. Pourquoi Apache Hop : Talend Open Studio n'est plus maintenu depuis 2024, l'énoncé autorise une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pl_produits dans Hop Web (http://localhost:8090/ui) : Lire produits_source, Normaliser nom et catégorie, Chercher catégorie officielle (référentiel CSV), Contrôler les valeurs, puis la branche « Ligne valide ? » : insertion ou mise à jour dans produits, ou journalisation dans produits_rejets. Le workflow wf_etl_produits orchestre le pipeline et un bilan.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l'écart 30 puis 29 : la ligne 30 est un doublon, elle met à jour « Souris sans fil » au lieu d'en créer une deuxième. L'ETL est idempotent : insert ou update sur la clé (nom, catégorie), table des rejets vidée à chaque passage. Code de retour 0 en cas de succès.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Chaque couche n'appelle que la suivante. Le contrôleur ne connaît pas la base. » Mentionner les DTO : l'entité JPA n'est jamais exposée, le contrat de l'API peut évoluer indépendamment du schéma. Pourquoi ddl-auto: validate : le schéma est partagé par l'ETL, l'API et les tests ; si le code et la table divergent, l'API refuse de démarrer.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les erreurs passent par GlobalExceptionHandler : un seul format à gérer côté client (timestamp, status, error, message, path, details). Le DELETE renvoie 200 avec un message et le produit supprimé : changement de contrat assumé (204 devenu 200), tests, contrat OpenAPI, README et collections mis à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contrat api/openapi.yaml est généré par springdoc puis exporté dans le dépôt (mvn test -Dtest=OpenApiExportTest -Dopenapi.export=true). Ouvrir Swagger UI en direct si besoin : http://localhost:8080/swagger-ui/index.html.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n'est pas magique : il va chercher les métriques (modèle pull). Configuration dans monitoring/prometheus.yml : deux jobs, produits-api (api:8080, chemin /actuator/prometheus) et prometheus. Si l'API s'arrête, la métrique up passe à 0. Autres requêtes utiles : temps de réponse moyen, nombre de réponses 4xx et 5xx, requêtes par 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pyramide des tests : beaucoup de tests rapides (unitaires), moins de tests d'intégration, quelques tests de bout en bout. Le script tests/e2e.sh (bash tests/e2e.sh --clean) repart de zéro, lance l'ETL, interroge l'API, vérifie PostgreSQL et Prometheus : 32 contrôles, code de retour 0 en cas de succès. Postman et Bruno ont les mêmes 18 requêtes.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passer : docker compose down -v puis docker compose up -d --build, quinze minutes avant. Lancer une fois l'ETL avant la soutenance pour que l'image Hop soit construite (≈ 1 min 25 la première fois, ≈ 18 s ensuite). Plan B obligatoire : vidéo de 2 à 3 minutes et captures d'écran de chaque étape.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difficultés réelles à raconter en une phrase chacune : l'abandon de Talend, la suppression des accents (aucun composant Hop ne le fait, d'où un script JavaScript), les conflits de ports sur nos machines. Ajouter Lombok incompatible avec Java 27 : on compile avec le JDK 17 visé par le projet, l'image Docker n'est pas concernée.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 assumées. L'API n'est pas sécurisée : c'est acceptable en développement ; en production, Spring Security avec JWT et accès restreint à /actuator (l'état de santé détaillé est public ici).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du fil rouge en deux phrases : des données brutes et imparfaites sont nettoyées, stockées, exposées et surveillées par une chaîne reproductible et testée. Puis : « Merci, des questions ? ». Répondre honnêtement : « Nous n'avons pas testé ce cas ; voici comment nous nous y prendrions.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463040"/>
            <a:ext cx="47548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02336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675120" y="548640"/>
            <a:ext cx="48463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675120" y="2194560"/>
            <a:ext cx="4846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ment 1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6260000"/>
              <a:gd name="adj2" fmla="val 19740000"/>
              <a:gd name="adj3" fmla="val 18500"/>
            </a:avLst>
          </a:prstGeom>
          <a:solidFill>
            <a:schemeClr val="accent1"/>
          </a:solidFill>
          <a:ln/>
        </p:spPr>
      </p:sp>
      <p:sp>
        <p:nvSpPr>
          <p:cNvPr id="3" name="Segment 2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9860000"/>
              <a:gd name="adj2" fmla="val 1740000"/>
              <a:gd name="adj3" fmla="val 18500"/>
            </a:avLst>
          </a:prstGeom>
          <a:solidFill>
            <a:schemeClr val="accent2"/>
          </a:solidFill>
          <a:ln/>
        </p:spPr>
      </p:sp>
      <p:sp>
        <p:nvSpPr>
          <p:cNvPr id="4" name="Segment 3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860000"/>
              <a:gd name="adj2" fmla="val 5340000"/>
              <a:gd name="adj3" fmla="val 18500"/>
            </a:avLst>
          </a:prstGeom>
          <a:solidFill>
            <a:schemeClr val="accent6"/>
          </a:solidFill>
          <a:ln/>
        </p:spPr>
      </p:sp>
      <p:sp>
        <p:nvSpPr>
          <p:cNvPr id="5" name="Segment 4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5460000"/>
              <a:gd name="adj2" fmla="val 8940000"/>
              <a:gd name="adj3" fmla="val 18500"/>
            </a:avLst>
          </a:prstGeom>
          <a:solidFill>
            <a:schemeClr val="accent3"/>
          </a:solidFill>
          <a:ln/>
        </p:spPr>
      </p:sp>
      <p:sp>
        <p:nvSpPr>
          <p:cNvPr id="6" name="Segment 5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9060000"/>
              <a:gd name="adj2" fmla="val 12540000"/>
              <a:gd name="adj3" fmla="val 18500"/>
            </a:avLst>
          </a:prstGeom>
          <a:solidFill>
            <a:schemeClr val="accent4"/>
          </a:solidFill>
          <a:ln/>
        </p:spPr>
      </p:sp>
      <p:sp>
        <p:nvSpPr>
          <p:cNvPr id="7" name="Segment 6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2660000"/>
              <a:gd name="adj2" fmla="val 16140000"/>
              <a:gd name="adj3" fmla="val 18500"/>
            </a:avLst>
          </a:prstGeom>
          <a:solidFill>
            <a:schemeClr val="accent5"/>
          </a:solidFill>
          <a:ln/>
        </p:spPr>
      </p:sp>
      <p:sp>
        <p:nvSpPr>
          <p:cNvPr id="8" name="Disque central"/>
          <p:cNvSpPr/>
          <p:nvPr/>
        </p:nvSpPr>
        <p:spPr>
          <a:xfrm>
            <a:off x="4495648" y="1645920"/>
            <a:ext cx="3200400" cy="320040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itre"/>
          <p:cNvSpPr txBox="1"/>
          <p:nvPr/>
        </p:nvSpPr>
        <p:spPr>
          <a:xfrm>
            <a:off x="4724248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PRODUITS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15688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1 · Projet composants et services web</a:t>
            </a:r>
            <a:endParaRPr lang="en-US" sz="1300" dirty="0"/>
          </a:p>
        </p:txBody>
      </p:sp>
      <p:sp>
        <p:nvSpPr>
          <p:cNvPr id="11" name="Icône mysql"/>
          <p:cNvSpPr/>
          <p:nvPr/>
        </p:nvSpPr>
        <p:spPr>
          <a:xfrm>
            <a:off x="6575908" y="978174"/>
            <a:ext cx="1051560" cy="10515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Pictogramme mysql" descr="my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798" y="1241064"/>
            <a:ext cx="525780" cy="525780"/>
          </a:xfrm>
          <a:prstGeom prst="rect">
            <a:avLst/>
          </a:prstGeom>
        </p:spPr>
      </p:pic>
      <p:sp>
        <p:nvSpPr>
          <p:cNvPr id="13" name="Numéro 01"/>
          <p:cNvSpPr/>
          <p:nvPr/>
        </p:nvSpPr>
        <p:spPr>
          <a:xfrm>
            <a:off x="7837780" y="130278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e numéro 01"/>
          <p:cNvSpPr txBox="1"/>
          <p:nvPr/>
        </p:nvSpPr>
        <p:spPr>
          <a:xfrm>
            <a:off x="7837780" y="130278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e MYSQL, LA SOURCE"/>
          <p:cNvSpPr txBox="1"/>
          <p:nvPr/>
        </p:nvSpPr>
        <p:spPr>
          <a:xfrm>
            <a:off x="8404708" y="90959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LA SOURCE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produits bruts, volontairement imparfaits.</a:t>
            </a:r>
            <a:endParaRPr lang="en-US" sz="1400" dirty="0"/>
          </a:p>
        </p:txBody>
      </p:sp>
      <p:sp>
        <p:nvSpPr>
          <p:cNvPr id="16" name="Icône sync"/>
          <p:cNvSpPr/>
          <p:nvPr/>
        </p:nvSpPr>
        <p:spPr>
          <a:xfrm>
            <a:off x="7581748" y="2720340"/>
            <a:ext cx="1051560" cy="105156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Pictogramme sync" descr="sy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638" y="2983230"/>
            <a:ext cx="525780" cy="525780"/>
          </a:xfrm>
          <a:prstGeom prst="rect">
            <a:avLst/>
          </a:prstGeom>
        </p:spPr>
      </p:pic>
      <p:sp>
        <p:nvSpPr>
          <p:cNvPr id="18" name="Numéro 02"/>
          <p:cNvSpPr/>
          <p:nvPr/>
        </p:nvSpPr>
        <p:spPr>
          <a:xfrm>
            <a:off x="8843620" y="304495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e numéro 02"/>
          <p:cNvSpPr txBox="1"/>
          <p:nvPr/>
        </p:nvSpPr>
        <p:spPr>
          <a:xfrm>
            <a:off x="884362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e ETL APACHE HOP"/>
          <p:cNvSpPr txBox="1"/>
          <p:nvPr/>
        </p:nvSpPr>
        <p:spPr>
          <a:xfrm>
            <a:off x="9410548" y="2651760"/>
            <a:ext cx="23239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APACHE HOP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Contrôle, normalise et charge : 29 produits, 10 rejets.</a:t>
            </a:r>
            <a:endParaRPr lang="en-US" sz="1400" dirty="0"/>
          </a:p>
        </p:txBody>
      </p:sp>
      <p:sp>
        <p:nvSpPr>
          <p:cNvPr id="21" name="Icône postgres"/>
          <p:cNvSpPr/>
          <p:nvPr/>
        </p:nvSpPr>
        <p:spPr>
          <a:xfrm>
            <a:off x="6575908" y="4462506"/>
            <a:ext cx="1051560" cy="1051560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Pictogramme postgres" descr="postg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798" y="4725396"/>
            <a:ext cx="525780" cy="525780"/>
          </a:xfrm>
          <a:prstGeom prst="rect">
            <a:avLst/>
          </a:prstGeom>
        </p:spPr>
      </p:pic>
      <p:sp>
        <p:nvSpPr>
          <p:cNvPr id="23" name="Numéro 03"/>
          <p:cNvSpPr/>
          <p:nvPr/>
        </p:nvSpPr>
        <p:spPr>
          <a:xfrm>
            <a:off x="7837780" y="4787118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4" name="Texte numéro 03"/>
          <p:cNvSpPr txBox="1"/>
          <p:nvPr/>
        </p:nvSpPr>
        <p:spPr>
          <a:xfrm>
            <a:off x="7837780" y="478711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e POSTGRESQL, LA CIBLE"/>
          <p:cNvSpPr txBox="1"/>
          <p:nvPr/>
        </p:nvSpPr>
        <p:spPr>
          <a:xfrm>
            <a:off x="8404708" y="4393926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LA CIBLE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propres, contraintes et table des rejets.</a:t>
            </a:r>
            <a:endParaRPr lang="en-US" sz="1400" dirty="0"/>
          </a:p>
        </p:txBody>
      </p:sp>
      <p:sp>
        <p:nvSpPr>
          <p:cNvPr id="26" name="Icône spring"/>
          <p:cNvSpPr/>
          <p:nvPr/>
        </p:nvSpPr>
        <p:spPr>
          <a:xfrm>
            <a:off x="4564228" y="4462506"/>
            <a:ext cx="1051560" cy="105156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Pictogramme spring" descr="sp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118" y="4725396"/>
            <a:ext cx="525780" cy="525780"/>
          </a:xfrm>
          <a:prstGeom prst="rect">
            <a:avLst/>
          </a:prstGeom>
        </p:spPr>
      </p:pic>
      <p:sp>
        <p:nvSpPr>
          <p:cNvPr id="28" name="Numéro 04"/>
          <p:cNvSpPr/>
          <p:nvPr/>
        </p:nvSpPr>
        <p:spPr>
          <a:xfrm>
            <a:off x="3951580" y="4787118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Texte numéro 04"/>
          <p:cNvSpPr txBox="1"/>
          <p:nvPr/>
        </p:nvSpPr>
        <p:spPr>
          <a:xfrm>
            <a:off x="3951580" y="478711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e API SPRING BOOT"/>
          <p:cNvSpPr txBox="1"/>
          <p:nvPr/>
        </p:nvSpPr>
        <p:spPr>
          <a:xfrm>
            <a:off x="678028" y="4393926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SPRING BOOT</a:t>
            </a:r>
            <a:endParaRPr lang="en-US" sz="14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pagination, erreurs homogènes, OpenAPI.</a:t>
            </a:r>
            <a:endParaRPr lang="en-US" sz="1400" dirty="0"/>
          </a:p>
        </p:txBody>
      </p:sp>
      <p:sp>
        <p:nvSpPr>
          <p:cNvPr id="31" name="Icône prom"/>
          <p:cNvSpPr/>
          <p:nvPr/>
        </p:nvSpPr>
        <p:spPr>
          <a:xfrm>
            <a:off x="3558388" y="2720340"/>
            <a:ext cx="1051560" cy="1051560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Pictogramme prom" descr="pr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278" y="2983230"/>
            <a:ext cx="525780" cy="525780"/>
          </a:xfrm>
          <a:prstGeom prst="rect">
            <a:avLst/>
          </a:prstGeom>
        </p:spPr>
      </p:pic>
      <p:sp>
        <p:nvSpPr>
          <p:cNvPr id="33" name="Numéro 05"/>
          <p:cNvSpPr/>
          <p:nvPr/>
        </p:nvSpPr>
        <p:spPr>
          <a:xfrm>
            <a:off x="2945740" y="304495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Texte numéro 05"/>
          <p:cNvSpPr txBox="1"/>
          <p:nvPr/>
        </p:nvSpPr>
        <p:spPr>
          <a:xfrm>
            <a:off x="294574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e PROMETHEUS"/>
          <p:cNvSpPr txBox="1"/>
          <p:nvPr/>
        </p:nvSpPr>
        <p:spPr>
          <a:xfrm>
            <a:off x="457200" y="2651760"/>
            <a:ext cx="23239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4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les métriques de l'API toutes les 5 s.</a:t>
            </a:r>
            <a:endParaRPr lang="en-US" sz="1400" dirty="0"/>
          </a:p>
        </p:txBody>
      </p:sp>
      <p:sp>
        <p:nvSpPr>
          <p:cNvPr id="36" name="Icône flask"/>
          <p:cNvSpPr/>
          <p:nvPr/>
        </p:nvSpPr>
        <p:spPr>
          <a:xfrm>
            <a:off x="4564228" y="978174"/>
            <a:ext cx="1051560" cy="105156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7" name="Pictogramme flask" descr="flas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118" y="1241064"/>
            <a:ext cx="525780" cy="525780"/>
          </a:xfrm>
          <a:prstGeom prst="rect">
            <a:avLst/>
          </a:prstGeom>
        </p:spPr>
      </p:pic>
      <p:sp>
        <p:nvSpPr>
          <p:cNvPr id="38" name="Numéro 06"/>
          <p:cNvSpPr/>
          <p:nvPr/>
        </p:nvSpPr>
        <p:spPr>
          <a:xfrm>
            <a:off x="3951580" y="1302786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9" name="Texte numéro 06"/>
          <p:cNvSpPr txBox="1"/>
          <p:nvPr/>
        </p:nvSpPr>
        <p:spPr>
          <a:xfrm>
            <a:off x="3951580" y="130278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e TESTS"/>
          <p:cNvSpPr txBox="1"/>
          <p:nvPr/>
        </p:nvSpPr>
        <p:spPr>
          <a:xfrm>
            <a:off x="678028" y="90959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4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tests Java, Postman, Bruno et bout en bout.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1 : BOUGOUMA Leïla · OUARMA Landry · WAONGO Osiris · ZAPRE Malika · KOURA Stéphane   |   M1 IBAM 2026   |   Enseignant : Mr Oumar KY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BRUTES INUTILISABLES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MySQL, 10 lignes sur 40 sont à rejeter et une est un doublon.</a:t>
            </a:r>
            <a:endParaRPr lang="en-US" sz="1600" dirty="0"/>
          </a:p>
        </p:txBody>
      </p:sp>
      <p:sp>
        <p:nvSpPr>
          <p:cNvPr id="4" name="Pilier haut"/>
          <p:cNvSpPr/>
          <p:nvPr/>
        </p:nvSpPr>
        <p:spPr>
          <a:xfrm>
            <a:off x="1371600" y="3200400"/>
            <a:ext cx="1645920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Pilier bas"/>
          <p:cNvSpPr/>
          <p:nvPr/>
        </p:nvSpPr>
        <p:spPr>
          <a:xfrm>
            <a:off x="1371600" y="4709160"/>
            <a:ext cx="1645920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olonne centrale"/>
          <p:cNvSpPr/>
          <p:nvPr/>
        </p:nvSpPr>
        <p:spPr>
          <a:xfrm>
            <a:off x="2039112" y="3328416"/>
            <a:ext cx="310896" cy="1380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Colonne gauche"/>
          <p:cNvSpPr/>
          <p:nvPr/>
        </p:nvSpPr>
        <p:spPr>
          <a:xfrm>
            <a:off x="1691640" y="3401568"/>
            <a:ext cx="182880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Colonne droite"/>
          <p:cNvSpPr/>
          <p:nvPr/>
        </p:nvSpPr>
        <p:spPr>
          <a:xfrm>
            <a:off x="2514600" y="3401568"/>
            <a:ext cx="182880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Icône question"/>
          <p:cNvSpPr/>
          <p:nvPr/>
        </p:nvSpPr>
        <p:spPr>
          <a:xfrm>
            <a:off x="1600200" y="2331720"/>
            <a:ext cx="1188720" cy="11887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Pictogramme question" descr="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2628900"/>
            <a:ext cx="594360" cy="594360"/>
          </a:xfrm>
          <a:prstGeom prst="rect">
            <a:avLst/>
          </a:prstGeom>
        </p:spPr>
      </p:pic>
      <p:sp>
        <p:nvSpPr>
          <p:cNvPr id="11" name="Numéro 01"/>
          <p:cNvSpPr/>
          <p:nvPr/>
        </p:nvSpPr>
        <p:spPr>
          <a:xfrm>
            <a:off x="1911096" y="4489704"/>
            <a:ext cx="566928" cy="56692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Texte numéro 01"/>
          <p:cNvSpPr txBox="1"/>
          <p:nvPr/>
        </p:nvSpPr>
        <p:spPr>
          <a:xfrm>
            <a:off x="1911096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MANQUANTS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5559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Nom, prix ou catégorie vide : 7 lignes.</a:t>
            </a:r>
            <a:endParaRPr lang="en-US" sz="1300" dirty="0"/>
          </a:p>
        </p:txBody>
      </p:sp>
      <p:sp>
        <p:nvSpPr>
          <p:cNvPr id="15" name="Pilier haut"/>
          <p:cNvSpPr/>
          <p:nvPr/>
        </p:nvSpPr>
        <p:spPr>
          <a:xfrm>
            <a:off x="3977640" y="3200400"/>
            <a:ext cx="1645920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Pilier bas"/>
          <p:cNvSpPr/>
          <p:nvPr/>
        </p:nvSpPr>
        <p:spPr>
          <a:xfrm>
            <a:off x="3977640" y="4709160"/>
            <a:ext cx="1645920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Colonne centrale"/>
          <p:cNvSpPr/>
          <p:nvPr/>
        </p:nvSpPr>
        <p:spPr>
          <a:xfrm>
            <a:off x="4645152" y="3328416"/>
            <a:ext cx="310896" cy="1380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Colonne gauche"/>
          <p:cNvSpPr/>
          <p:nvPr/>
        </p:nvSpPr>
        <p:spPr>
          <a:xfrm>
            <a:off x="4297680" y="3401568"/>
            <a:ext cx="182880" cy="12344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Colonne droite"/>
          <p:cNvSpPr/>
          <p:nvPr/>
        </p:nvSpPr>
        <p:spPr>
          <a:xfrm>
            <a:off x="5120640" y="3401568"/>
            <a:ext cx="182880" cy="12344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Icône minus"/>
          <p:cNvSpPr/>
          <p:nvPr/>
        </p:nvSpPr>
        <p:spPr>
          <a:xfrm>
            <a:off x="4206240" y="2331720"/>
            <a:ext cx="1188720" cy="118872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Pictogramme minus" descr="min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628900"/>
            <a:ext cx="594360" cy="594360"/>
          </a:xfrm>
          <a:prstGeom prst="rect">
            <a:avLst/>
          </a:prstGeom>
        </p:spPr>
      </p:pic>
      <p:sp>
        <p:nvSpPr>
          <p:cNvPr id="22" name="Numéro 02"/>
          <p:cNvSpPr/>
          <p:nvPr/>
        </p:nvSpPr>
        <p:spPr>
          <a:xfrm>
            <a:off x="4517136" y="4489704"/>
            <a:ext cx="566928" cy="56692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3" name="Texte numéro 02"/>
          <p:cNvSpPr txBox="1"/>
          <p:nvPr/>
        </p:nvSpPr>
        <p:spPr>
          <a:xfrm>
            <a:off x="4517136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361188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NÉGATIVES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611880" y="5559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prix de -1500, une quantité de -3.</a:t>
            </a:r>
            <a:endParaRPr lang="en-US" sz="1300" dirty="0"/>
          </a:p>
        </p:txBody>
      </p:sp>
      <p:sp>
        <p:nvSpPr>
          <p:cNvPr id="26" name="Pilier haut"/>
          <p:cNvSpPr/>
          <p:nvPr/>
        </p:nvSpPr>
        <p:spPr>
          <a:xfrm>
            <a:off x="6583680" y="3200400"/>
            <a:ext cx="1645920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Pilier bas"/>
          <p:cNvSpPr/>
          <p:nvPr/>
        </p:nvSpPr>
        <p:spPr>
          <a:xfrm>
            <a:off x="6583680" y="4709160"/>
            <a:ext cx="1645920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" name="Colonne centrale"/>
          <p:cNvSpPr/>
          <p:nvPr/>
        </p:nvSpPr>
        <p:spPr>
          <a:xfrm>
            <a:off x="7251192" y="3328416"/>
            <a:ext cx="310896" cy="13807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Colonne gauche"/>
          <p:cNvSpPr/>
          <p:nvPr/>
        </p:nvSpPr>
        <p:spPr>
          <a:xfrm>
            <a:off x="6903720" y="3401568"/>
            <a:ext cx="182880" cy="1234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" name="Colonne droite"/>
          <p:cNvSpPr/>
          <p:nvPr/>
        </p:nvSpPr>
        <p:spPr>
          <a:xfrm>
            <a:off x="7726680" y="3401568"/>
            <a:ext cx="182880" cy="1234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Icône tags"/>
          <p:cNvSpPr/>
          <p:nvPr/>
        </p:nvSpPr>
        <p:spPr>
          <a:xfrm>
            <a:off x="6812280" y="2331720"/>
            <a:ext cx="1188720" cy="118872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Pictogramme tags" descr="ta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628900"/>
            <a:ext cx="594360" cy="594360"/>
          </a:xfrm>
          <a:prstGeom prst="rect">
            <a:avLst/>
          </a:prstGeom>
        </p:spPr>
      </p:pic>
      <p:sp>
        <p:nvSpPr>
          <p:cNvPr id="33" name="Numéro 03"/>
          <p:cNvSpPr/>
          <p:nvPr/>
        </p:nvSpPr>
        <p:spPr>
          <a:xfrm>
            <a:off x="7123176" y="4489704"/>
            <a:ext cx="566928" cy="56692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34" name="Texte numéro 03"/>
          <p:cNvSpPr txBox="1"/>
          <p:nvPr/>
        </p:nvSpPr>
        <p:spPr>
          <a:xfrm>
            <a:off x="7123176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621792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CATÉGORIES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6217920" y="5559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 electro », « ÉLECTRONIQUE », « info »…</a:t>
            </a:r>
            <a:endParaRPr lang="en-US" sz="1300" dirty="0"/>
          </a:p>
        </p:txBody>
      </p:sp>
      <p:sp>
        <p:nvSpPr>
          <p:cNvPr id="37" name="Pilier haut"/>
          <p:cNvSpPr/>
          <p:nvPr/>
        </p:nvSpPr>
        <p:spPr>
          <a:xfrm>
            <a:off x="9189720" y="3200400"/>
            <a:ext cx="1645920" cy="12801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8" name="Pilier bas"/>
          <p:cNvSpPr/>
          <p:nvPr/>
        </p:nvSpPr>
        <p:spPr>
          <a:xfrm>
            <a:off x="9189720" y="4709160"/>
            <a:ext cx="1645920" cy="12801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9" name="Colonne centrale"/>
          <p:cNvSpPr/>
          <p:nvPr/>
        </p:nvSpPr>
        <p:spPr>
          <a:xfrm>
            <a:off x="9857232" y="3328416"/>
            <a:ext cx="310896" cy="138074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0" name="Colonne gauche"/>
          <p:cNvSpPr/>
          <p:nvPr/>
        </p:nvSpPr>
        <p:spPr>
          <a:xfrm>
            <a:off x="9509760" y="3401568"/>
            <a:ext cx="182880" cy="1234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1" name="Colonne droite"/>
          <p:cNvSpPr/>
          <p:nvPr/>
        </p:nvSpPr>
        <p:spPr>
          <a:xfrm>
            <a:off x="10332720" y="3401568"/>
            <a:ext cx="182880" cy="1234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2" name="Icône clone"/>
          <p:cNvSpPr/>
          <p:nvPr/>
        </p:nvSpPr>
        <p:spPr>
          <a:xfrm>
            <a:off x="9418320" y="2331720"/>
            <a:ext cx="1188720" cy="118872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Pictogramme clone" descr="cl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2628900"/>
            <a:ext cx="594360" cy="594360"/>
          </a:xfrm>
          <a:prstGeom prst="rect">
            <a:avLst/>
          </a:prstGeom>
        </p:spPr>
      </p:pic>
      <p:sp>
        <p:nvSpPr>
          <p:cNvPr id="44" name="Numéro 04"/>
          <p:cNvSpPr/>
          <p:nvPr/>
        </p:nvSpPr>
        <p:spPr>
          <a:xfrm>
            <a:off x="9729216" y="4489704"/>
            <a:ext cx="566928" cy="56692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45" name="Texte numéro 04"/>
          <p:cNvSpPr txBox="1"/>
          <p:nvPr/>
        </p:nvSpPr>
        <p:spPr>
          <a:xfrm>
            <a:off x="9729216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882396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8823960" y="5559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 Souris sans fil » apparaît deux fois.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MYSQL À PROMETHEUS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chaîne dans Docker Compose : chaque composant ne parle qu'au suivant.</a:t>
            </a:r>
            <a:endParaRPr lang="en-US" sz="1600" dirty="0"/>
          </a:p>
        </p:txBody>
      </p:sp>
      <p:sp>
        <p:nvSpPr>
          <p:cNvPr id="4" name="Onglet 1"/>
          <p:cNvSpPr/>
          <p:nvPr/>
        </p:nvSpPr>
        <p:spPr>
          <a:xfrm>
            <a:off x="6035040" y="2084832"/>
            <a:ext cx="566928" cy="585216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Carte 1"/>
          <p:cNvSpPr/>
          <p:nvPr/>
        </p:nvSpPr>
        <p:spPr>
          <a:xfrm>
            <a:off x="731520" y="2011680"/>
            <a:ext cx="576072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Icône mysql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Pictogramme mysql" descr="my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365760" cy="365760"/>
          </a:xfrm>
          <a:prstGeom prst="rect">
            <a:avLst/>
          </a:prstGeom>
        </p:spPr>
      </p:pic>
      <p:sp>
        <p:nvSpPr>
          <p:cNvPr id="8" name="Texte MYSQL · SOURCE"/>
          <p:cNvSpPr txBox="1"/>
          <p:nvPr/>
        </p:nvSpPr>
        <p:spPr>
          <a:xfrm>
            <a:off x="1828800" y="204825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SOURCE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produits_source : 40 lignes de test, sans contrainte.</a:t>
            </a:r>
            <a:endParaRPr lang="en-US" sz="1300" dirty="0"/>
          </a:p>
        </p:txBody>
      </p:sp>
      <p:sp>
        <p:nvSpPr>
          <p:cNvPr id="9" name="Numéro 1"/>
          <p:cNvSpPr txBox="1"/>
          <p:nvPr/>
        </p:nvSpPr>
        <p:spPr>
          <a:xfrm>
            <a:off x="6071616" y="208483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Onglet 2"/>
          <p:cNvSpPr/>
          <p:nvPr/>
        </p:nvSpPr>
        <p:spPr>
          <a:xfrm>
            <a:off x="7223760" y="2953512"/>
            <a:ext cx="566928" cy="585216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11" name="Carte 2"/>
          <p:cNvSpPr/>
          <p:nvPr/>
        </p:nvSpPr>
        <p:spPr>
          <a:xfrm>
            <a:off x="1920240" y="2880360"/>
            <a:ext cx="576072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Icône sync"/>
          <p:cNvSpPr/>
          <p:nvPr/>
        </p:nvSpPr>
        <p:spPr>
          <a:xfrm>
            <a:off x="2057400" y="2880360"/>
            <a:ext cx="731520" cy="73152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Pictogramme sync" descr="sy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3063240"/>
            <a:ext cx="365760" cy="365760"/>
          </a:xfrm>
          <a:prstGeom prst="rect">
            <a:avLst/>
          </a:prstGeom>
        </p:spPr>
      </p:pic>
      <p:sp>
        <p:nvSpPr>
          <p:cNvPr id="14" name="Texte APACHE HOP · ETL"/>
          <p:cNvSpPr txBox="1"/>
          <p:nvPr/>
        </p:nvSpPr>
        <p:spPr>
          <a:xfrm>
            <a:off x="3017520" y="291693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HOP · ETL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Extrait, contrôle, normalise les catégories et charge.</a:t>
            </a:r>
            <a:endParaRPr lang="en-US" sz="1300" dirty="0"/>
          </a:p>
        </p:txBody>
      </p:sp>
      <p:sp>
        <p:nvSpPr>
          <p:cNvPr id="15" name="Numéro 2"/>
          <p:cNvSpPr txBox="1"/>
          <p:nvPr/>
        </p:nvSpPr>
        <p:spPr>
          <a:xfrm>
            <a:off x="7260336" y="295351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Onglet 3"/>
          <p:cNvSpPr/>
          <p:nvPr/>
        </p:nvSpPr>
        <p:spPr>
          <a:xfrm>
            <a:off x="8412480" y="3822192"/>
            <a:ext cx="566928" cy="585216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7" name="Carte 3"/>
          <p:cNvSpPr/>
          <p:nvPr/>
        </p:nvSpPr>
        <p:spPr>
          <a:xfrm>
            <a:off x="3108960" y="3749040"/>
            <a:ext cx="576072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Icône postgres"/>
          <p:cNvSpPr/>
          <p:nvPr/>
        </p:nvSpPr>
        <p:spPr>
          <a:xfrm>
            <a:off x="3246120" y="3749040"/>
            <a:ext cx="731520" cy="73152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Pictogramme postgres" descr="postg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931920"/>
            <a:ext cx="365760" cy="365760"/>
          </a:xfrm>
          <a:prstGeom prst="rect">
            <a:avLst/>
          </a:prstGeom>
        </p:spPr>
      </p:pic>
      <p:sp>
        <p:nvSpPr>
          <p:cNvPr id="20" name="Texte POSTGRESQL · CIBLE"/>
          <p:cNvSpPr txBox="1"/>
          <p:nvPr/>
        </p:nvSpPr>
        <p:spPr>
          <a:xfrm>
            <a:off x="4206240" y="378561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CIBLE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produits (contraintes) et produits_rejets (motifs).</a:t>
            </a:r>
            <a:endParaRPr lang="en-US" sz="1300" dirty="0"/>
          </a:p>
        </p:txBody>
      </p:sp>
      <p:sp>
        <p:nvSpPr>
          <p:cNvPr id="21" name="Numéro 3"/>
          <p:cNvSpPr txBox="1"/>
          <p:nvPr/>
        </p:nvSpPr>
        <p:spPr>
          <a:xfrm>
            <a:off x="8449056" y="382219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Onglet 4"/>
          <p:cNvSpPr/>
          <p:nvPr/>
        </p:nvSpPr>
        <p:spPr>
          <a:xfrm>
            <a:off x="9601200" y="4690872"/>
            <a:ext cx="566928" cy="585216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23" name="Carte 4"/>
          <p:cNvSpPr/>
          <p:nvPr/>
        </p:nvSpPr>
        <p:spPr>
          <a:xfrm>
            <a:off x="4297680" y="4617720"/>
            <a:ext cx="576072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Icône spring"/>
          <p:cNvSpPr/>
          <p:nvPr/>
        </p:nvSpPr>
        <p:spPr>
          <a:xfrm>
            <a:off x="4434840" y="4617720"/>
            <a:ext cx="731520" cy="731520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Pictogramme spring" descr="sp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800600"/>
            <a:ext cx="365760" cy="365760"/>
          </a:xfrm>
          <a:prstGeom prst="rect">
            <a:avLst/>
          </a:prstGeom>
        </p:spPr>
      </p:pic>
      <p:sp>
        <p:nvSpPr>
          <p:cNvPr id="26" name="Texte SPRING BOOT · API REST"/>
          <p:cNvSpPr txBox="1"/>
          <p:nvPr/>
        </p:nvSpPr>
        <p:spPr>
          <a:xfrm>
            <a:off x="5394960" y="465429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· API REST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sur /api/v1/produits, validation, contrat OpenAPI.</a:t>
            </a:r>
            <a:endParaRPr lang="en-US" sz="1300" dirty="0"/>
          </a:p>
        </p:txBody>
      </p:sp>
      <p:sp>
        <p:nvSpPr>
          <p:cNvPr id="27" name="Numéro 4"/>
          <p:cNvSpPr txBox="1"/>
          <p:nvPr/>
        </p:nvSpPr>
        <p:spPr>
          <a:xfrm>
            <a:off x="9637776" y="469087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Onglet 5"/>
          <p:cNvSpPr/>
          <p:nvPr/>
        </p:nvSpPr>
        <p:spPr>
          <a:xfrm>
            <a:off x="10789920" y="5559552"/>
            <a:ext cx="566928" cy="585216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9" name="Carte 5"/>
          <p:cNvSpPr/>
          <p:nvPr/>
        </p:nvSpPr>
        <p:spPr>
          <a:xfrm>
            <a:off x="5486400" y="5486400"/>
            <a:ext cx="576072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Icône prom"/>
          <p:cNvSpPr/>
          <p:nvPr/>
        </p:nvSpPr>
        <p:spPr>
          <a:xfrm>
            <a:off x="5623560" y="5486400"/>
            <a:ext cx="731520" cy="73152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Pictogramme prom" descr="pr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5669280"/>
            <a:ext cx="365760" cy="365760"/>
          </a:xfrm>
          <a:prstGeom prst="rect">
            <a:avLst/>
          </a:prstGeom>
        </p:spPr>
      </p:pic>
      <p:sp>
        <p:nvSpPr>
          <p:cNvPr id="32" name="Texte PROMETHEUS · SUPERVISION"/>
          <p:cNvSpPr txBox="1"/>
          <p:nvPr/>
        </p:nvSpPr>
        <p:spPr>
          <a:xfrm>
            <a:off x="6583680" y="552297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SUPERVISION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/actuator/prometheus de l'API toutes les 5 secondes.</a:t>
            </a:r>
            <a:endParaRPr lang="en-US" sz="1300" dirty="0"/>
          </a:p>
        </p:txBody>
      </p:sp>
      <p:sp>
        <p:nvSpPr>
          <p:cNvPr id="33" name="Numéro 5"/>
          <p:cNvSpPr txBox="1"/>
          <p:nvPr/>
        </p:nvSpPr>
        <p:spPr>
          <a:xfrm>
            <a:off x="10826496" y="555955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8686800" y="1783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0" dirty="0"/>
          </a:p>
        </p:txBody>
      </p:sp>
      <p:sp>
        <p:nvSpPr>
          <p:cNvPr id="35" name="Text 28"/>
          <p:cNvSpPr txBox="1"/>
          <p:nvPr/>
        </p:nvSpPr>
        <p:spPr>
          <a:xfrm>
            <a:off x="978408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Docker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postgres, etl, hop-web, api et prometheus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463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SE LANCE AVEC UNE COMMANDE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N'importe qui relance le projet sur une machine neuve.</a:t>
            </a:r>
            <a:endParaRPr lang="en-US" sz="1600" dirty="0"/>
          </a:p>
        </p:txBody>
      </p:sp>
      <p:sp>
        <p:nvSpPr>
          <p:cNvPr id="4" name="Commande"/>
          <p:cNvSpPr/>
          <p:nvPr/>
        </p:nvSpPr>
        <p:spPr>
          <a:xfrm>
            <a:off x="731520" y="5029200"/>
            <a:ext cx="448056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500" dirty="0"/>
          </a:p>
        </p:txBody>
      </p:sp>
      <p:sp>
        <p:nvSpPr>
          <p:cNvPr id="6" name="Quadrant 1"/>
          <p:cNvSpPr/>
          <p:nvPr/>
        </p:nvSpPr>
        <p:spPr>
          <a:xfrm>
            <a:off x="6217920" y="868680"/>
            <a:ext cx="5120640" cy="5120640"/>
          </a:xfrm>
          <a:prstGeom prst="blockArc">
            <a:avLst>
              <a:gd name="adj1" fmla="val 10920000"/>
              <a:gd name="adj2" fmla="val 16080000"/>
              <a:gd name="adj3" fmla="val 7500"/>
            </a:avLst>
          </a:prstGeom>
          <a:solidFill>
            <a:schemeClr val="accent1"/>
          </a:solidFill>
          <a:ln/>
        </p:spPr>
      </p:sp>
      <p:sp>
        <p:nvSpPr>
          <p:cNvPr id="7" name="Quadrant 2"/>
          <p:cNvSpPr/>
          <p:nvPr/>
        </p:nvSpPr>
        <p:spPr>
          <a:xfrm>
            <a:off x="6217920" y="868680"/>
            <a:ext cx="5120640" cy="5120640"/>
          </a:xfrm>
          <a:prstGeom prst="blockArc">
            <a:avLst>
              <a:gd name="adj1" fmla="val 16320000"/>
              <a:gd name="adj2" fmla="val 21480000"/>
              <a:gd name="adj3" fmla="val 7500"/>
            </a:avLst>
          </a:prstGeom>
          <a:solidFill>
            <a:schemeClr val="accent2"/>
          </a:solidFill>
          <a:ln/>
        </p:spPr>
      </p:sp>
      <p:sp>
        <p:nvSpPr>
          <p:cNvPr id="8" name="Quadrant 3"/>
          <p:cNvSpPr/>
          <p:nvPr/>
        </p:nvSpPr>
        <p:spPr>
          <a:xfrm>
            <a:off x="6217920" y="868680"/>
            <a:ext cx="5120640" cy="5120640"/>
          </a:xfrm>
          <a:prstGeom prst="blockArc">
            <a:avLst>
              <a:gd name="adj1" fmla="val 120000"/>
              <a:gd name="adj2" fmla="val 5280000"/>
              <a:gd name="adj3" fmla="val 7500"/>
            </a:avLst>
          </a:prstGeom>
          <a:solidFill>
            <a:schemeClr val="accent3"/>
          </a:solidFill>
          <a:ln/>
        </p:spPr>
      </p:sp>
      <p:sp>
        <p:nvSpPr>
          <p:cNvPr id="9" name="Quadrant 4"/>
          <p:cNvSpPr/>
          <p:nvPr/>
        </p:nvSpPr>
        <p:spPr>
          <a:xfrm>
            <a:off x="6217920" y="868680"/>
            <a:ext cx="5120640" cy="5120640"/>
          </a:xfrm>
          <a:prstGeom prst="blockArc">
            <a:avLst>
              <a:gd name="adj1" fmla="val 5520000"/>
              <a:gd name="adj2" fmla="val 10680000"/>
              <a:gd name="adj3" fmla="val 7500"/>
            </a:avLst>
          </a:prstGeom>
          <a:solidFill>
            <a:schemeClr val="accent5"/>
          </a:solidFill>
          <a:ln/>
        </p:spPr>
      </p:sp>
      <p:sp>
        <p:nvSpPr>
          <p:cNvPr id="10" name="Disque intérieur"/>
          <p:cNvSpPr/>
          <p:nvPr/>
        </p:nvSpPr>
        <p:spPr>
          <a:xfrm>
            <a:off x="6519672" y="1170432"/>
            <a:ext cx="4517136" cy="451713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1" name="Séparateur horizontal"/>
          <p:cNvSpPr/>
          <p:nvPr/>
        </p:nvSpPr>
        <p:spPr>
          <a:xfrm>
            <a:off x="6583680" y="3392424"/>
            <a:ext cx="4389120" cy="731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éparateur vertical"/>
          <p:cNvSpPr/>
          <p:nvPr/>
        </p:nvSpPr>
        <p:spPr>
          <a:xfrm>
            <a:off x="8741664" y="1234440"/>
            <a:ext cx="73152" cy="4389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e SIX SERVICES"/>
          <p:cNvSpPr txBox="1"/>
          <p:nvPr/>
        </p:nvSpPr>
        <p:spPr>
          <a:xfrm>
            <a:off x="6949440" y="2240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SERVICES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postgres, etl, hop-web, api, prometheus</a:t>
            </a:r>
            <a:endParaRPr lang="en-US" sz="1300" dirty="0"/>
          </a:p>
        </p:txBody>
      </p:sp>
      <p:sp>
        <p:nvSpPr>
          <p:cNvPr id="14" name="Icône docker"/>
          <p:cNvSpPr/>
          <p:nvPr/>
        </p:nvSpPr>
        <p:spPr>
          <a:xfrm>
            <a:off x="6620539" y="1271299"/>
            <a:ext cx="914400" cy="91440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Pictogramme docker" descr="do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9139" y="1499899"/>
            <a:ext cx="457200" cy="457200"/>
          </a:xfrm>
          <a:prstGeom prst="rect">
            <a:avLst/>
          </a:prstGeom>
        </p:spPr>
      </p:pic>
      <p:sp>
        <p:nvSpPr>
          <p:cNvPr id="16" name="Texte FICHIER .ENV"/>
          <p:cNvSpPr txBox="1"/>
          <p:nvPr/>
        </p:nvSpPr>
        <p:spPr>
          <a:xfrm>
            <a:off x="8915400" y="2240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.ENV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mot de passe dans le dépôt</a:t>
            </a:r>
            <a:endParaRPr lang="en-US" sz="1300" dirty="0"/>
          </a:p>
        </p:txBody>
      </p:sp>
      <p:sp>
        <p:nvSpPr>
          <p:cNvPr id="17" name="Icône key"/>
          <p:cNvSpPr/>
          <p:nvPr/>
        </p:nvSpPr>
        <p:spPr>
          <a:xfrm>
            <a:off x="10021541" y="1271299"/>
            <a:ext cx="914400" cy="91440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Pictogramme key" descr="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141" y="1499899"/>
            <a:ext cx="457200" cy="457200"/>
          </a:xfrm>
          <a:prstGeom prst="rect">
            <a:avLst/>
          </a:prstGeom>
        </p:spPr>
      </p:pic>
      <p:sp>
        <p:nvSpPr>
          <p:cNvPr id="19" name="Texte HEALTHCHECKS"/>
          <p:cNvSpPr txBox="1"/>
          <p:nvPr/>
        </p:nvSpPr>
        <p:spPr>
          <a:xfrm>
            <a:off x="8915400" y="3611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L'API attend que PostgreSQL soit prêt</a:t>
            </a:r>
            <a:endParaRPr lang="en-US" sz="1300" dirty="0"/>
          </a:p>
        </p:txBody>
      </p:sp>
      <p:sp>
        <p:nvSpPr>
          <p:cNvPr id="20" name="Icône heart"/>
          <p:cNvSpPr/>
          <p:nvPr/>
        </p:nvSpPr>
        <p:spPr>
          <a:xfrm>
            <a:off x="10021541" y="4672301"/>
            <a:ext cx="914400" cy="91440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Pictogramme heart" descr="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141" y="4900901"/>
            <a:ext cx="457200" cy="457200"/>
          </a:xfrm>
          <a:prstGeom prst="rect">
            <a:avLst/>
          </a:prstGeom>
        </p:spPr>
      </p:pic>
      <p:sp>
        <p:nvSpPr>
          <p:cNvPr id="22" name="Texte SCRIPTS SQL"/>
          <p:cNvSpPr txBox="1"/>
          <p:nvPr/>
        </p:nvSpPr>
        <p:spPr>
          <a:xfrm>
            <a:off x="6949440" y="3611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SQL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créées et remplies au 1er démarrage</a:t>
            </a:r>
            <a:endParaRPr lang="en-US" sz="1300" dirty="0"/>
          </a:p>
        </p:txBody>
      </p:sp>
      <p:sp>
        <p:nvSpPr>
          <p:cNvPr id="23" name="Icône db"/>
          <p:cNvSpPr/>
          <p:nvPr/>
        </p:nvSpPr>
        <p:spPr>
          <a:xfrm>
            <a:off x="6620539" y="4672301"/>
            <a:ext cx="914400" cy="91440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4" name="Pictogramme db" descr="d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139" y="4900901"/>
            <a:ext cx="457200" cy="457200"/>
          </a:xfrm>
          <a:prstGeom prst="rect">
            <a:avLst/>
          </a:prstGeom>
        </p:spPr>
      </p:pic>
      <p:sp>
        <p:nvSpPr>
          <p:cNvPr id="25" name="Numéro 01"/>
          <p:cNvSpPr/>
          <p:nvPr/>
        </p:nvSpPr>
        <p:spPr>
          <a:xfrm>
            <a:off x="8549640" y="795528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6" name="Texte numéro 01"/>
          <p:cNvSpPr txBox="1"/>
          <p:nvPr/>
        </p:nvSpPr>
        <p:spPr>
          <a:xfrm>
            <a:off x="8549640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Numéro 02"/>
          <p:cNvSpPr/>
          <p:nvPr/>
        </p:nvSpPr>
        <p:spPr>
          <a:xfrm>
            <a:off x="10954512" y="320040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8" name="Texte numéro 02"/>
          <p:cNvSpPr txBox="1"/>
          <p:nvPr/>
        </p:nvSpPr>
        <p:spPr>
          <a:xfrm>
            <a:off x="1095451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Numéro 03"/>
          <p:cNvSpPr/>
          <p:nvPr/>
        </p:nvSpPr>
        <p:spPr>
          <a:xfrm>
            <a:off x="8549640" y="560527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30" name="Texte numéro 03"/>
          <p:cNvSpPr txBox="1"/>
          <p:nvPr/>
        </p:nvSpPr>
        <p:spPr>
          <a:xfrm>
            <a:off x="8549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Numéro 04"/>
          <p:cNvSpPr/>
          <p:nvPr/>
        </p:nvSpPr>
        <p:spPr>
          <a:xfrm>
            <a:off x="6144768" y="320040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32" name="Texte numéro 04"/>
          <p:cNvSpPr txBox="1"/>
          <p:nvPr/>
        </p:nvSpPr>
        <p:spPr>
          <a:xfrm>
            <a:off x="614476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L'ETL CONTRÔLE AVANT DE CHARGER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étapes, des lignes brutes de MySQL aux produits propres de PostgreSQL.</a:t>
            </a:r>
            <a:endParaRPr lang="en-US" sz="1600" dirty="0"/>
          </a:p>
        </p:txBody>
      </p:sp>
      <p:sp>
        <p:nvSpPr>
          <p:cNvPr id="4" name="Onglet EXTRACTION"/>
          <p:cNvSpPr/>
          <p:nvPr/>
        </p:nvSpPr>
        <p:spPr>
          <a:xfrm>
            <a:off x="685800" y="2286000"/>
            <a:ext cx="1325880" cy="265176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/>
        </p:spPr>
      </p:sp>
      <p:pic>
        <p:nvPicPr>
          <p:cNvPr id="5" name="Pictogramme EXTRACTION" descr="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606040"/>
            <a:ext cx="640080" cy="640080"/>
          </a:xfrm>
          <a:prstGeom prst="rect">
            <a:avLst/>
          </a:prstGeom>
        </p:spPr>
      </p:pic>
      <p:sp>
        <p:nvSpPr>
          <p:cNvPr id="6" name="Carte EXTRACTION"/>
          <p:cNvSpPr/>
          <p:nvPr/>
        </p:nvSpPr>
        <p:spPr>
          <a:xfrm>
            <a:off x="850392" y="352044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e EXTRACTION"/>
          <p:cNvSpPr txBox="1"/>
          <p:nvPr/>
        </p:nvSpPr>
        <p:spPr>
          <a:xfrm>
            <a:off x="978408" y="3611880"/>
            <a:ext cx="15727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 produits_source dans MySQL.</a:t>
            </a:r>
            <a:endParaRPr lang="en-US" sz="1300" dirty="0"/>
          </a:p>
        </p:txBody>
      </p:sp>
      <p:sp>
        <p:nvSpPr>
          <p:cNvPr id="8" name="Numéro 01"/>
          <p:cNvSpPr/>
          <p:nvPr/>
        </p:nvSpPr>
        <p:spPr>
          <a:xfrm>
            <a:off x="1527048" y="55229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e numéro 01"/>
          <p:cNvSpPr txBox="1"/>
          <p:nvPr/>
        </p:nvSpPr>
        <p:spPr>
          <a:xfrm>
            <a:off x="15270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Onglet NORMALISATION"/>
          <p:cNvSpPr/>
          <p:nvPr/>
        </p:nvSpPr>
        <p:spPr>
          <a:xfrm>
            <a:off x="2898648" y="2286000"/>
            <a:ext cx="1325880" cy="2651760"/>
          </a:xfrm>
          <a:prstGeom prst="roundRect">
            <a:avLst>
              <a:gd name="adj" fmla="val 6897"/>
            </a:avLst>
          </a:prstGeom>
          <a:solidFill>
            <a:schemeClr val="accent2"/>
          </a:solidFill>
          <a:ln/>
        </p:spPr>
      </p:sp>
      <p:pic>
        <p:nvPicPr>
          <p:cNvPr id="11" name="Pictogramme NORMALISATION" descr="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606040"/>
            <a:ext cx="640080" cy="640080"/>
          </a:xfrm>
          <a:prstGeom prst="rect">
            <a:avLst/>
          </a:prstGeom>
        </p:spPr>
      </p:pic>
      <p:sp>
        <p:nvSpPr>
          <p:cNvPr id="12" name="Carte NORMALISATION"/>
          <p:cNvSpPr/>
          <p:nvPr/>
        </p:nvSpPr>
        <p:spPr>
          <a:xfrm>
            <a:off x="3063240" y="352044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e NORMALISATION"/>
          <p:cNvSpPr txBox="1"/>
          <p:nvPr/>
        </p:nvSpPr>
        <p:spPr>
          <a:xfrm>
            <a:off x="3191256" y="3611880"/>
            <a:ext cx="15727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nettoyé, catégorie en minuscules sans accents.</a:t>
            </a:r>
            <a:endParaRPr lang="en-US" sz="1300" dirty="0"/>
          </a:p>
        </p:txBody>
      </p:sp>
      <p:sp>
        <p:nvSpPr>
          <p:cNvPr id="14" name="Numéro 02"/>
          <p:cNvSpPr/>
          <p:nvPr/>
        </p:nvSpPr>
        <p:spPr>
          <a:xfrm>
            <a:off x="3739896" y="552297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e numéro 02"/>
          <p:cNvSpPr txBox="1"/>
          <p:nvPr/>
        </p:nvSpPr>
        <p:spPr>
          <a:xfrm>
            <a:off x="3739896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Onglet RÉFÉRENTIEL"/>
          <p:cNvSpPr/>
          <p:nvPr/>
        </p:nvSpPr>
        <p:spPr>
          <a:xfrm>
            <a:off x="5111496" y="2286000"/>
            <a:ext cx="132588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pic>
        <p:nvPicPr>
          <p:cNvPr id="17" name="Pictogramme RÉFÉRENTIEL" descr="ta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606040"/>
            <a:ext cx="640080" cy="640080"/>
          </a:xfrm>
          <a:prstGeom prst="rect">
            <a:avLst/>
          </a:prstGeom>
        </p:spPr>
      </p:pic>
      <p:sp>
        <p:nvSpPr>
          <p:cNvPr id="18" name="Carte RÉFÉRENTIEL"/>
          <p:cNvSpPr/>
          <p:nvPr/>
        </p:nvSpPr>
        <p:spPr>
          <a:xfrm>
            <a:off x="5276088" y="352044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e RÉFÉRENTIEL"/>
          <p:cNvSpPr txBox="1"/>
          <p:nvPr/>
        </p:nvSpPr>
        <p:spPr>
          <a:xfrm>
            <a:off x="5404104" y="3611880"/>
            <a:ext cx="15727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Correspondance avec 5 catégories officielles (CSV).</a:t>
            </a:r>
            <a:endParaRPr lang="en-US" sz="1300" dirty="0"/>
          </a:p>
        </p:txBody>
      </p:sp>
      <p:sp>
        <p:nvSpPr>
          <p:cNvPr id="20" name="Numéro 03"/>
          <p:cNvSpPr/>
          <p:nvPr/>
        </p:nvSpPr>
        <p:spPr>
          <a:xfrm>
            <a:off x="5952744" y="5522976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e numéro 03"/>
          <p:cNvSpPr txBox="1"/>
          <p:nvPr/>
        </p:nvSpPr>
        <p:spPr>
          <a:xfrm>
            <a:off x="5952744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Onglet CONTRÔLE"/>
          <p:cNvSpPr/>
          <p:nvPr/>
        </p:nvSpPr>
        <p:spPr>
          <a:xfrm>
            <a:off x="7324344" y="2286000"/>
            <a:ext cx="1325880" cy="265176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/>
        </p:spPr>
      </p:sp>
      <p:pic>
        <p:nvPicPr>
          <p:cNvPr id="23" name="Pictogramme CONTRÔLE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2606040"/>
            <a:ext cx="640080" cy="640080"/>
          </a:xfrm>
          <a:prstGeom prst="rect">
            <a:avLst/>
          </a:prstGeom>
        </p:spPr>
      </p:pic>
      <p:sp>
        <p:nvSpPr>
          <p:cNvPr id="24" name="Carte CONTRÔLE"/>
          <p:cNvSpPr/>
          <p:nvPr/>
        </p:nvSpPr>
        <p:spPr>
          <a:xfrm>
            <a:off x="7488936" y="352044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e CONTRÔLE"/>
          <p:cNvSpPr txBox="1"/>
          <p:nvPr/>
        </p:nvSpPr>
        <p:spPr>
          <a:xfrm>
            <a:off x="7616952" y="3611880"/>
            <a:ext cx="15727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Nom, prix, catégorie obligatoires ; prix et quantité ≥ 0.</a:t>
            </a:r>
            <a:endParaRPr lang="en-US" sz="1300" dirty="0"/>
          </a:p>
        </p:txBody>
      </p:sp>
      <p:sp>
        <p:nvSpPr>
          <p:cNvPr id="26" name="Numéro 04"/>
          <p:cNvSpPr/>
          <p:nvPr/>
        </p:nvSpPr>
        <p:spPr>
          <a:xfrm>
            <a:off x="8165592" y="5522976"/>
            <a:ext cx="475488" cy="47548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e numéro 04"/>
          <p:cNvSpPr txBox="1"/>
          <p:nvPr/>
        </p:nvSpPr>
        <p:spPr>
          <a:xfrm>
            <a:off x="8165592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Onglet CHARGEMENT"/>
          <p:cNvSpPr/>
          <p:nvPr/>
        </p:nvSpPr>
        <p:spPr>
          <a:xfrm>
            <a:off x="9537192" y="2286000"/>
            <a:ext cx="1325880" cy="2651760"/>
          </a:xfrm>
          <a:prstGeom prst="roundRect">
            <a:avLst>
              <a:gd name="adj" fmla="val 6897"/>
            </a:avLst>
          </a:prstGeom>
          <a:solidFill>
            <a:schemeClr val="accent5"/>
          </a:solidFill>
          <a:ln/>
        </p:spPr>
      </p:sp>
      <p:pic>
        <p:nvPicPr>
          <p:cNvPr id="29" name="Pictogramme CHARGEMENT" descr="postgr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4" y="2606040"/>
            <a:ext cx="640080" cy="640080"/>
          </a:xfrm>
          <a:prstGeom prst="rect">
            <a:avLst/>
          </a:prstGeom>
        </p:spPr>
      </p:pic>
      <p:sp>
        <p:nvSpPr>
          <p:cNvPr id="30" name="Carte CHARGEMENT"/>
          <p:cNvSpPr/>
          <p:nvPr/>
        </p:nvSpPr>
        <p:spPr>
          <a:xfrm>
            <a:off x="9701784" y="3520440"/>
            <a:ext cx="1828800" cy="19659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e CHARGEMENT"/>
          <p:cNvSpPr txBox="1"/>
          <p:nvPr/>
        </p:nvSpPr>
        <p:spPr>
          <a:xfrm>
            <a:off x="9829800" y="3611880"/>
            <a:ext cx="15727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ou update dans PostgreSQL ; rejets journalisés.</a:t>
            </a:r>
            <a:endParaRPr lang="en-US" sz="1300" dirty="0"/>
          </a:p>
        </p:txBody>
      </p:sp>
      <p:sp>
        <p:nvSpPr>
          <p:cNvPr id="32" name="Numéro 05"/>
          <p:cNvSpPr/>
          <p:nvPr/>
        </p:nvSpPr>
        <p:spPr>
          <a:xfrm>
            <a:off x="10378440" y="5522976"/>
            <a:ext cx="475488" cy="47548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3" name="Texte numéro 05"/>
          <p:cNvSpPr txBox="1"/>
          <p:nvPr/>
        </p:nvSpPr>
        <p:spPr>
          <a:xfrm>
            <a:off x="10378440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VU DANS HOP WEB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lignes valides vont dans produits, les autres dans produits_rejets avec leur motif.</a:t>
            </a:r>
            <a:endParaRPr lang="en-US" sz="1600" dirty="0"/>
          </a:p>
        </p:txBody>
      </p:sp>
      <p:sp>
        <p:nvSpPr>
          <p:cNvPr id="4" name="Cadre capture"/>
          <p:cNvSpPr/>
          <p:nvPr/>
        </p:nvSpPr>
        <p:spPr>
          <a:xfrm>
            <a:off x="746608" y="2011680"/>
            <a:ext cx="10698480" cy="4076445"/>
          </a:xfrm>
          <a:prstGeom prst="roundRect">
            <a:avLst>
              <a:gd name="adj" fmla="val 2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Hop Web" descr="Pipeline pl_produits dans Hop Web : lecture, normalisation, référentiel, contrôle, puis insertion ou rej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2148840"/>
            <a:ext cx="10424160" cy="38021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675120" y="548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LIGNES, 29 PRODUITS, 10 REJETS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675120" y="2194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doublon met à jour une ligne existante au lieu d'en créer une.</a:t>
            </a:r>
            <a:endParaRPr lang="en-US" sz="1500" dirty="0"/>
          </a:p>
        </p:txBody>
      </p:sp>
      <p:sp>
        <p:nvSpPr>
          <p:cNvPr id="4" name="Entonnoir 40"/>
          <p:cNvSpPr/>
          <p:nvPr/>
        </p:nvSpPr>
        <p:spPr>
          <a:xfrm flipV="1">
            <a:off x="731520" y="1371600"/>
            <a:ext cx="5303520" cy="1371600"/>
          </a:xfrm>
          <a:prstGeom prst="trapezoid">
            <a:avLst/>
          </a:prstGeom>
          <a:solidFill>
            <a:schemeClr val="accent1"/>
          </a:solidFill>
          <a:ln/>
        </p:spPr>
      </p:sp>
      <p:sp>
        <p:nvSpPr>
          <p:cNvPr id="5" name="Valeur 40"/>
          <p:cNvSpPr txBox="1"/>
          <p:nvPr/>
        </p:nvSpPr>
        <p:spPr>
          <a:xfrm>
            <a:off x="731520" y="13716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5400" dirty="0"/>
          </a:p>
        </p:txBody>
      </p:sp>
      <p:sp>
        <p:nvSpPr>
          <p:cNvPr id="6" name="Icône db"/>
          <p:cNvSpPr/>
          <p:nvPr/>
        </p:nvSpPr>
        <p:spPr>
          <a:xfrm>
            <a:off x="5486400" y="1188720"/>
            <a:ext cx="731520" cy="7315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Pictogramme db" descr="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65760" cy="365760"/>
          </a:xfrm>
          <a:prstGeom prst="rect">
            <a:avLst/>
          </a:prstGeom>
        </p:spPr>
      </p:pic>
      <p:sp>
        <p:nvSpPr>
          <p:cNvPr id="8" name="Entonnoir 30"/>
          <p:cNvSpPr/>
          <p:nvPr/>
        </p:nvSpPr>
        <p:spPr>
          <a:xfrm flipV="1">
            <a:off x="1371600" y="2880360"/>
            <a:ext cx="4023360" cy="1371600"/>
          </a:xfrm>
          <a:prstGeom prst="trapezoid">
            <a:avLst/>
          </a:prstGeom>
          <a:solidFill>
            <a:schemeClr val="accent2"/>
          </a:solidFill>
          <a:ln/>
        </p:spPr>
      </p:sp>
      <p:sp>
        <p:nvSpPr>
          <p:cNvPr id="9" name="Valeur 30"/>
          <p:cNvSpPr txBox="1"/>
          <p:nvPr/>
        </p:nvSpPr>
        <p:spPr>
          <a:xfrm>
            <a:off x="1371600" y="28803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400" dirty="0"/>
          </a:p>
        </p:txBody>
      </p:sp>
      <p:sp>
        <p:nvSpPr>
          <p:cNvPr id="10" name="Icône filter"/>
          <p:cNvSpPr/>
          <p:nvPr/>
        </p:nvSpPr>
        <p:spPr>
          <a:xfrm>
            <a:off x="4846320" y="2697480"/>
            <a:ext cx="731520" cy="73152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Pictogramme filter" descr="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80360"/>
            <a:ext cx="365760" cy="365760"/>
          </a:xfrm>
          <a:prstGeom prst="rect">
            <a:avLst/>
          </a:prstGeom>
        </p:spPr>
      </p:pic>
      <p:sp>
        <p:nvSpPr>
          <p:cNvPr id="12" name="Entonnoir 29"/>
          <p:cNvSpPr/>
          <p:nvPr/>
        </p:nvSpPr>
        <p:spPr>
          <a:xfrm flipV="1">
            <a:off x="2011680" y="4389120"/>
            <a:ext cx="2743200" cy="1371600"/>
          </a:xfrm>
          <a:prstGeom prst="trapezoid">
            <a:avLst/>
          </a:prstGeom>
          <a:solidFill>
            <a:schemeClr val="accent3"/>
          </a:solidFill>
          <a:ln/>
        </p:spPr>
      </p:sp>
      <p:sp>
        <p:nvSpPr>
          <p:cNvPr id="13" name="Valeur 29"/>
          <p:cNvSpPr txBox="1"/>
          <p:nvPr/>
        </p:nvSpPr>
        <p:spPr>
          <a:xfrm>
            <a:off x="2011680" y="4389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400" dirty="0"/>
          </a:p>
        </p:txBody>
      </p:sp>
      <p:sp>
        <p:nvSpPr>
          <p:cNvPr id="14" name="Icône postgres"/>
          <p:cNvSpPr/>
          <p:nvPr/>
        </p:nvSpPr>
        <p:spPr>
          <a:xfrm>
            <a:off x="4206240" y="4206240"/>
            <a:ext cx="731520" cy="73152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Pictogramme postgres" descr="postg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89120"/>
            <a:ext cx="365760" cy="365760"/>
          </a:xfrm>
          <a:prstGeom prst="rect">
            <a:avLst/>
          </a:prstGeom>
        </p:spPr>
      </p:pic>
      <p:sp>
        <p:nvSpPr>
          <p:cNvPr id="16" name="Numéro 01"/>
          <p:cNvSpPr/>
          <p:nvPr/>
        </p:nvSpPr>
        <p:spPr>
          <a:xfrm>
            <a:off x="6693408" y="32644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e numéro 01"/>
          <p:cNvSpPr txBox="1"/>
          <p:nvPr/>
        </p:nvSpPr>
        <p:spPr>
          <a:xfrm>
            <a:off x="669340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Étiquette 40 LUES"/>
          <p:cNvSpPr/>
          <p:nvPr/>
        </p:nvSpPr>
        <p:spPr>
          <a:xfrm>
            <a:off x="7315200" y="3200400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31520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LUES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37260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produits_source, MySQL</a:t>
            </a:r>
            <a:endParaRPr lang="en-US" sz="1300" dirty="0"/>
          </a:p>
        </p:txBody>
      </p:sp>
      <p:sp>
        <p:nvSpPr>
          <p:cNvPr id="21" name="Numéro 02"/>
          <p:cNvSpPr/>
          <p:nvPr/>
        </p:nvSpPr>
        <p:spPr>
          <a:xfrm>
            <a:off x="6693408" y="401421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e numéro 02"/>
          <p:cNvSpPr txBox="1"/>
          <p:nvPr/>
        </p:nvSpPr>
        <p:spPr>
          <a:xfrm>
            <a:off x="6693408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Étiquette 10 REJETÉES"/>
          <p:cNvSpPr/>
          <p:nvPr/>
        </p:nvSpPr>
        <p:spPr>
          <a:xfrm>
            <a:off x="7315200" y="3950208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315200" y="3950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REJETÉES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372600" y="3950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Motif précis dans produits_rejets</a:t>
            </a:r>
            <a:endParaRPr lang="en-US" sz="1300" dirty="0"/>
          </a:p>
        </p:txBody>
      </p:sp>
      <p:sp>
        <p:nvSpPr>
          <p:cNvPr id="26" name="Numéro 03"/>
          <p:cNvSpPr/>
          <p:nvPr/>
        </p:nvSpPr>
        <p:spPr>
          <a:xfrm>
            <a:off x="6693408" y="476402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e numéro 03"/>
          <p:cNvSpPr txBox="1"/>
          <p:nvPr/>
        </p:nvSpPr>
        <p:spPr>
          <a:xfrm>
            <a:off x="6693408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Étiquette 30 VALIDES"/>
          <p:cNvSpPr/>
          <p:nvPr/>
        </p:nvSpPr>
        <p:spPr>
          <a:xfrm>
            <a:off x="7315200" y="4700016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315200" y="47000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VALIDES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9372600" y="4700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dont 1 doublon fusionné</a:t>
            </a:r>
            <a:endParaRPr lang="en-US" sz="1300" dirty="0"/>
          </a:p>
        </p:txBody>
      </p:sp>
      <p:sp>
        <p:nvSpPr>
          <p:cNvPr id="31" name="Numéro 04"/>
          <p:cNvSpPr/>
          <p:nvPr/>
        </p:nvSpPr>
        <p:spPr>
          <a:xfrm>
            <a:off x="6693408" y="5513832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2" name="Texte numéro 04"/>
          <p:cNvSpPr txBox="1"/>
          <p:nvPr/>
        </p:nvSpPr>
        <p:spPr>
          <a:xfrm>
            <a:off x="6693408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Étiquette 29 CHARGÉES"/>
          <p:cNvSpPr/>
          <p:nvPr/>
        </p:nvSpPr>
        <p:spPr>
          <a:xfrm>
            <a:off x="7315200" y="5449824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315200" y="54498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CHARGÉES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9372600" y="54498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 sans doublon : toujours 29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API EN COUCHES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couche n'appelle que la suivante, et l'entité n'est jamais exposée.</a:t>
            </a:r>
            <a:endParaRPr lang="en-US" sz="1600" dirty="0"/>
          </a:p>
        </p:txBody>
      </p:sp>
      <p:sp>
        <p:nvSpPr>
          <p:cNvPr id="4" name="Couche CONTROLLER"/>
          <p:cNvSpPr/>
          <p:nvPr/>
        </p:nvSpPr>
        <p:spPr>
          <a:xfrm>
            <a:off x="2468880" y="2103120"/>
            <a:ext cx="2194560" cy="914400"/>
          </a:xfrm>
          <a:prstGeom prst="trapezoid">
            <a:avLst/>
          </a:prstGeom>
          <a:solidFill>
            <a:schemeClr val="accent1"/>
          </a:solidFill>
          <a:ln/>
        </p:spPr>
      </p:sp>
      <p:sp>
        <p:nvSpPr>
          <p:cNvPr id="5" name="Libellé CONTROLLER"/>
          <p:cNvSpPr txBox="1"/>
          <p:nvPr/>
        </p:nvSpPr>
        <p:spPr>
          <a:xfrm>
            <a:off x="246888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Numéro 01"/>
          <p:cNvSpPr/>
          <p:nvPr/>
        </p:nvSpPr>
        <p:spPr>
          <a:xfrm>
            <a:off x="681228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e numéro 01"/>
          <p:cNvSpPr txBox="1"/>
          <p:nvPr/>
        </p:nvSpPr>
        <p:spPr>
          <a:xfrm>
            <a:off x="68122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e CONTROLLER"/>
          <p:cNvSpPr txBox="1"/>
          <p:nvPr/>
        </p:nvSpPr>
        <p:spPr>
          <a:xfrm>
            <a:off x="7498080" y="2103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Reçoit les requêtes HTTP et répond 200, 201, 400 ou 404.</a:t>
            </a:r>
            <a:endParaRPr lang="en-US" sz="1400" dirty="0"/>
          </a:p>
        </p:txBody>
      </p:sp>
      <p:sp>
        <p:nvSpPr>
          <p:cNvPr id="9" name="Couche SERVICE"/>
          <p:cNvSpPr/>
          <p:nvPr/>
        </p:nvSpPr>
        <p:spPr>
          <a:xfrm>
            <a:off x="1828800" y="3127248"/>
            <a:ext cx="3474720" cy="914400"/>
          </a:xfrm>
          <a:prstGeom prst="trapezoid">
            <a:avLst/>
          </a:prstGeom>
          <a:solidFill>
            <a:schemeClr val="accent2"/>
          </a:solidFill>
          <a:ln/>
        </p:spPr>
      </p:sp>
      <p:sp>
        <p:nvSpPr>
          <p:cNvPr id="10" name="Libellé SERVICE"/>
          <p:cNvSpPr txBox="1"/>
          <p:nvPr/>
        </p:nvSpPr>
        <p:spPr>
          <a:xfrm>
            <a:off x="1828800" y="3127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500" dirty="0"/>
          </a:p>
        </p:txBody>
      </p:sp>
      <p:sp>
        <p:nvSpPr>
          <p:cNvPr id="11" name="Numéro 02"/>
          <p:cNvSpPr/>
          <p:nvPr/>
        </p:nvSpPr>
        <p:spPr>
          <a:xfrm>
            <a:off x="6812280" y="33558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e numéro 02"/>
          <p:cNvSpPr txBox="1"/>
          <p:nvPr/>
        </p:nvSpPr>
        <p:spPr>
          <a:xfrm>
            <a:off x="68122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e SERVICE"/>
          <p:cNvSpPr txBox="1"/>
          <p:nvPr/>
        </p:nvSpPr>
        <p:spPr>
          <a:xfrm>
            <a:off x="749808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 ; des DTO remplacent l'entité en entrée et en sortie.</a:t>
            </a:r>
            <a:endParaRPr lang="en-US" sz="1400" dirty="0"/>
          </a:p>
        </p:txBody>
      </p:sp>
      <p:sp>
        <p:nvSpPr>
          <p:cNvPr id="14" name="Couche REPOSITORY"/>
          <p:cNvSpPr/>
          <p:nvPr/>
        </p:nvSpPr>
        <p:spPr>
          <a:xfrm>
            <a:off x="1188720" y="4151376"/>
            <a:ext cx="4754880" cy="914400"/>
          </a:xfrm>
          <a:prstGeom prst="trapezoid">
            <a:avLst/>
          </a:prstGeom>
          <a:solidFill>
            <a:schemeClr val="accent3"/>
          </a:solidFill>
          <a:ln/>
        </p:spPr>
      </p:sp>
      <p:sp>
        <p:nvSpPr>
          <p:cNvPr id="15" name="Libellé REPOSITORY"/>
          <p:cNvSpPr txBox="1"/>
          <p:nvPr/>
        </p:nvSpPr>
        <p:spPr>
          <a:xfrm>
            <a:off x="1188720" y="415137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6" name="Numéro 03"/>
          <p:cNvSpPr/>
          <p:nvPr/>
        </p:nvSpPr>
        <p:spPr>
          <a:xfrm>
            <a:off x="6812280" y="437997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e numéro 03"/>
          <p:cNvSpPr txBox="1"/>
          <p:nvPr/>
        </p:nvSpPr>
        <p:spPr>
          <a:xfrm>
            <a:off x="68122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e REPOSITORY"/>
          <p:cNvSpPr txBox="1"/>
          <p:nvPr/>
        </p:nvSpPr>
        <p:spPr>
          <a:xfrm>
            <a:off x="7498080" y="41513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: lecture paginée et filtre par catégorie.</a:t>
            </a:r>
            <a:endParaRPr lang="en-US" sz="1400" dirty="0"/>
          </a:p>
        </p:txBody>
      </p:sp>
      <p:sp>
        <p:nvSpPr>
          <p:cNvPr id="19" name="Couche POSTGRESQL"/>
          <p:cNvSpPr/>
          <p:nvPr/>
        </p:nvSpPr>
        <p:spPr>
          <a:xfrm>
            <a:off x="548640" y="5175504"/>
            <a:ext cx="6035040" cy="914400"/>
          </a:xfrm>
          <a:prstGeom prst="trapezoid">
            <a:avLst/>
          </a:prstGeom>
          <a:solidFill>
            <a:schemeClr val="accent5"/>
          </a:solidFill>
          <a:ln/>
        </p:spPr>
      </p:sp>
      <p:sp>
        <p:nvSpPr>
          <p:cNvPr id="20" name="Libellé POSTGRESQL"/>
          <p:cNvSpPr txBox="1"/>
          <p:nvPr/>
        </p:nvSpPr>
        <p:spPr>
          <a:xfrm>
            <a:off x="548640" y="517550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1" name="Numéro 04"/>
          <p:cNvSpPr/>
          <p:nvPr/>
        </p:nvSpPr>
        <p:spPr>
          <a:xfrm>
            <a:off x="6812280" y="540410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Texte numéro 04"/>
          <p:cNvSpPr txBox="1"/>
          <p:nvPr/>
        </p:nvSpPr>
        <p:spPr>
          <a:xfrm>
            <a:off x="681228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e POSTGRESQL"/>
          <p:cNvSpPr txBox="1"/>
          <p:nvPr/>
        </p:nvSpPr>
        <p:spPr>
          <a:xfrm>
            <a:off x="7498080" y="517550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créé par les scripts SQL (ddl-auto : validate).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ERREURS TOUJOURS HOMOGÈNES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une route inconnue renvoie le même format JSON.</a:t>
            </a:r>
            <a:endParaRPr lang="en-US" sz="1600" dirty="0"/>
          </a:p>
        </p:txBody>
      </p:sp>
      <p:sp>
        <p:nvSpPr>
          <p:cNvPr id="4" name="Carte code"/>
          <p:cNvSpPr/>
          <p:nvPr/>
        </p:nvSpPr>
        <p:spPr>
          <a:xfrm>
            <a:off x="731520" y="2194560"/>
            <a:ext cx="5669280" cy="3383280"/>
          </a:xfrm>
          <a:prstGeom prst="roundRect">
            <a:avLst>
              <a:gd name="adj" fmla="val 405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Exemple JSON"/>
          <p:cNvSpPr txBox="1"/>
          <p:nvPr/>
        </p:nvSpPr>
        <p:spPr>
          <a:xfrm>
            <a:off x="1005840" y="23317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C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"2026-10-29T14:51:55",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4B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400,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4D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"error": "Bad Request",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"Données invalides",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D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"path": "/api/v1/produits",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[{ "champ": "prix",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"message": "Le prix doit être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positif ou nul" }]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Icône shield"/>
          <p:cNvSpPr/>
          <p:nvPr/>
        </p:nvSpPr>
        <p:spPr>
          <a:xfrm>
            <a:off x="6766560" y="2194560"/>
            <a:ext cx="914400" cy="91440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Pictogramme shield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423160"/>
            <a:ext cx="457200" cy="457200"/>
          </a:xfrm>
          <a:prstGeom prst="rect">
            <a:avLst/>
          </a:prstGeom>
        </p:spPr>
      </p:pic>
      <p:sp>
        <p:nvSpPr>
          <p:cNvPr id="8" name="Texte 400 · REQUÊTE INVALIDE"/>
          <p:cNvSpPr txBox="1"/>
          <p:nvPr/>
        </p:nvSpPr>
        <p:spPr>
          <a:xfrm>
            <a:off x="795528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· REQUÊTE INVALIDE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Corps ou pagination hors limites, champ par champ.</a:t>
            </a:r>
            <a:endParaRPr lang="en-US" sz="1500" dirty="0"/>
          </a:p>
        </p:txBody>
      </p:sp>
      <p:sp>
        <p:nvSpPr>
          <p:cNvPr id="9" name="Icône search"/>
          <p:cNvSpPr/>
          <p:nvPr/>
        </p:nvSpPr>
        <p:spPr>
          <a:xfrm>
            <a:off x="6766560" y="3383280"/>
            <a:ext cx="914400" cy="91440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Pictogramme search" descr="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611880"/>
            <a:ext cx="457200" cy="457200"/>
          </a:xfrm>
          <a:prstGeom prst="rect">
            <a:avLst/>
          </a:prstGeom>
        </p:spPr>
      </p:pic>
      <p:sp>
        <p:nvSpPr>
          <p:cNvPr id="11" name="Texte 404 · INTROUVABLE"/>
          <p:cNvSpPr txBox="1"/>
          <p:nvPr/>
        </p:nvSpPr>
        <p:spPr>
          <a:xfrm>
            <a:off x="7955280" y="3337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· INTROUVABLE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inexistant ou route inconnue.</a:t>
            </a:r>
            <a:endParaRPr lang="en-US" sz="1500" dirty="0"/>
          </a:p>
        </p:txBody>
      </p:sp>
      <p:sp>
        <p:nvSpPr>
          <p:cNvPr id="12" name="Icône check"/>
          <p:cNvSpPr/>
          <p:nvPr/>
        </p:nvSpPr>
        <p:spPr>
          <a:xfrm>
            <a:off x="6766560" y="4572000"/>
            <a:ext cx="914400" cy="91440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Pictogramme 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800600"/>
            <a:ext cx="457200" cy="457200"/>
          </a:xfrm>
          <a:prstGeom prst="rect">
            <a:avLst/>
          </a:prstGeom>
        </p:spPr>
      </p:pic>
      <p:sp>
        <p:nvSpPr>
          <p:cNvPr id="14" name="Texte 200 · SUPPRESSION"/>
          <p:cNvSpPr txBox="1"/>
          <p:nvPr/>
        </p:nvSpPr>
        <p:spPr>
          <a:xfrm>
            <a:off x="7955280" y="4526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· SUPPRESSION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de confirmation et produit supprimé.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 OPENAPI VERSIONNÉ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opérations documentées, testables depuis le navigateur.</a:t>
            </a:r>
            <a:endParaRPr lang="en-US" sz="1600" dirty="0"/>
          </a:p>
        </p:txBody>
      </p:sp>
      <p:sp>
        <p:nvSpPr>
          <p:cNvPr id="4" name="Icône swagger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Pictogramme swagger" descr="swag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457200" cy="457200"/>
          </a:xfrm>
          <a:prstGeom prst="rect">
            <a:avLst/>
          </a:prstGeom>
        </p:spPr>
      </p:pic>
      <p:sp>
        <p:nvSpPr>
          <p:cNvPr id="6" name="Texte SWAGGER UI"/>
          <p:cNvSpPr txBox="1"/>
          <p:nvPr/>
        </p:nvSpPr>
        <p:spPr>
          <a:xfrm>
            <a:off x="2011680" y="2103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chaque opération sur localhost:8080/swagger-ui.</a:t>
            </a:r>
            <a:endParaRPr lang="en-US" sz="1500" dirty="0"/>
          </a:p>
        </p:txBody>
      </p:sp>
      <p:sp>
        <p:nvSpPr>
          <p:cNvPr id="7" name="Icône openapi"/>
          <p:cNvSpPr/>
          <p:nvPr/>
        </p:nvSpPr>
        <p:spPr>
          <a:xfrm>
            <a:off x="822960" y="3520440"/>
            <a:ext cx="914400" cy="91440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Pictogramme openapi" descr="opena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749040"/>
            <a:ext cx="457200" cy="457200"/>
          </a:xfrm>
          <a:prstGeom prst="rect">
            <a:avLst/>
          </a:prstGeom>
        </p:spPr>
      </p:pic>
      <p:sp>
        <p:nvSpPr>
          <p:cNvPr id="9" name="Texte CONTRAT EXPORTÉ"/>
          <p:cNvSpPr txBox="1"/>
          <p:nvPr/>
        </p:nvSpPr>
        <p:spPr>
          <a:xfrm>
            <a:off x="2011680" y="3474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EXPORTÉ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api/openapi.yaml versionné dans Git, régénéré par un test.</a:t>
            </a:r>
            <a:endParaRPr lang="en-US" sz="1500" dirty="0"/>
          </a:p>
        </p:txBody>
      </p:sp>
      <p:sp>
        <p:nvSpPr>
          <p:cNvPr id="10" name="Icône list"/>
          <p:cNvSpPr/>
          <p:nvPr/>
        </p:nvSpPr>
        <p:spPr>
          <a:xfrm>
            <a:off x="822960" y="4892040"/>
            <a:ext cx="914400" cy="91440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Pictogramme list" descr="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120640"/>
            <a:ext cx="457200" cy="457200"/>
          </a:xfrm>
          <a:prstGeom prst="rect">
            <a:avLst/>
          </a:prstGeom>
        </p:spPr>
      </p:pic>
      <p:sp>
        <p:nvSpPr>
          <p:cNvPr id="12" name="Texte CINQ OPÉRATIONS"/>
          <p:cNvSpPr txBox="1"/>
          <p:nvPr/>
        </p:nvSpPr>
        <p:spPr>
          <a:xfrm>
            <a:off x="201168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OPÉRATIONS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paginée avec filtre, consultation, création, modification, suppression.</a:t>
            </a:r>
            <a:endParaRPr lang="en-US" sz="1500" dirty="0"/>
          </a:p>
        </p:txBody>
      </p:sp>
      <p:sp>
        <p:nvSpPr>
          <p:cNvPr id="13" name="Cadre capture"/>
          <p:cNvSpPr/>
          <p:nvPr/>
        </p:nvSpPr>
        <p:spPr>
          <a:xfrm>
            <a:off x="6720840" y="1965960"/>
            <a:ext cx="5029200" cy="4173322"/>
          </a:xfrm>
          <a:prstGeom prst="roundRect">
            <a:avLst>
              <a:gd name="adj" fmla="val 26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Capture Swagger UI" descr="Swagger UI avec les cinq opérations de l'API produi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03120"/>
            <a:ext cx="4754880" cy="38990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: VOIR L'API VIVRE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interroge /actuator/prometheus toutes les 5 secondes.</a:t>
            </a:r>
            <a:endParaRPr lang="en-US" sz="1600" dirty="0"/>
          </a:p>
        </p:txBody>
      </p:sp>
      <p:sp>
        <p:nvSpPr>
          <p:cNvPr id="4" name="Cadre capture"/>
          <p:cNvSpPr/>
          <p:nvPr/>
        </p:nvSpPr>
        <p:spPr>
          <a:xfrm>
            <a:off x="758952" y="1810512"/>
            <a:ext cx="5340096" cy="3511296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prometheus-targets.png" descr="Cibles produits-api et prometheus à l'état 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12064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Cibles produits-api et prometheus à l'état UP</a:t>
            </a:r>
            <a:endParaRPr lang="en-US" sz="1200" dirty="0"/>
          </a:p>
        </p:txBody>
      </p:sp>
      <p:sp>
        <p:nvSpPr>
          <p:cNvPr id="7" name="Cadre capture"/>
          <p:cNvSpPr/>
          <p:nvPr/>
        </p:nvSpPr>
        <p:spPr>
          <a:xfrm>
            <a:off x="6089904" y="1810512"/>
            <a:ext cx="5340096" cy="3511296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Capture prometheus-requetes.png" descr="Requêtes HTTP par seconde (PromQ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920240"/>
            <a:ext cx="5120640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99632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HTTP par seconde (PromQL)</a:t>
            </a:r>
            <a:endParaRPr lang="en-US" sz="1200" dirty="0"/>
          </a:p>
        </p:txBody>
      </p:sp>
      <p:sp>
        <p:nvSpPr>
          <p:cNvPr id="10" name="Requête PromQL"/>
          <p:cNvSpPr/>
          <p:nvPr/>
        </p:nvSpPr>
        <p:spPr>
          <a:xfrm>
            <a:off x="1463040" y="5669280"/>
            <a:ext cx="923544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463040" y="566928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sum(rate(http_server_requests_seconds_count{job="produits-api"}[1m]))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À QUATRE NIVEAUX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plus rapide au plus complet.</a:t>
            </a:r>
            <a:endParaRPr lang="en-US" sz="1600" dirty="0"/>
          </a:p>
        </p:txBody>
      </p:sp>
      <p:sp>
        <p:nvSpPr>
          <p:cNvPr id="4" name="Flèche UNITAIRES"/>
          <p:cNvSpPr/>
          <p:nvPr/>
        </p:nvSpPr>
        <p:spPr>
          <a:xfrm>
            <a:off x="1097280" y="4434840"/>
            <a:ext cx="1920240" cy="1371600"/>
          </a:xfrm>
          <a:prstGeom prst="upArrow">
            <a:avLst/>
          </a:prstGeom>
          <a:solidFill>
            <a:schemeClr val="accent1"/>
          </a:solidFill>
          <a:ln/>
        </p:spPr>
      </p:sp>
      <p:pic>
        <p:nvPicPr>
          <p:cNvPr id="5" name="Pictogramme UNITAIRES" descr="ju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4846320"/>
            <a:ext cx="548640" cy="548640"/>
          </a:xfrm>
          <a:prstGeom prst="rect">
            <a:avLst/>
          </a:prstGeom>
        </p:spPr>
      </p:pic>
      <p:sp>
        <p:nvSpPr>
          <p:cNvPr id="6" name="Numéro 01"/>
          <p:cNvSpPr/>
          <p:nvPr/>
        </p:nvSpPr>
        <p:spPr>
          <a:xfrm>
            <a:off x="1828800" y="56235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7" name="Texte numéro 01"/>
          <p:cNvSpPr txBox="1"/>
          <p:nvPr/>
        </p:nvSpPr>
        <p:spPr>
          <a:xfrm>
            <a:off x="18288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e UNITAIRES"/>
          <p:cNvSpPr txBox="1"/>
          <p:nvPr/>
        </p:nvSpPr>
        <p:spPr>
          <a:xfrm>
            <a:off x="1005840" y="3337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UNITAIRES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tests du service avec Mockito.</a:t>
            </a:r>
            <a:endParaRPr lang="en-US" sz="1400" dirty="0"/>
          </a:p>
        </p:txBody>
      </p:sp>
      <p:sp>
        <p:nvSpPr>
          <p:cNvPr id="9" name="Flèche INTÉGRATION"/>
          <p:cNvSpPr/>
          <p:nvPr/>
        </p:nvSpPr>
        <p:spPr>
          <a:xfrm>
            <a:off x="3794760" y="3886200"/>
            <a:ext cx="1920240" cy="1920240"/>
          </a:xfrm>
          <a:prstGeom prst="upArrow">
            <a:avLst/>
          </a:prstGeom>
          <a:solidFill>
            <a:schemeClr val="accent2"/>
          </a:solidFill>
          <a:ln/>
        </p:spPr>
      </p:sp>
      <p:pic>
        <p:nvPicPr>
          <p:cNvPr id="10" name="Pictogramme INTÉGRATION" descr="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297680"/>
            <a:ext cx="548640" cy="548640"/>
          </a:xfrm>
          <a:prstGeom prst="rect">
            <a:avLst/>
          </a:prstGeom>
        </p:spPr>
      </p:pic>
      <p:sp>
        <p:nvSpPr>
          <p:cNvPr id="11" name="Numéro 02"/>
          <p:cNvSpPr/>
          <p:nvPr/>
        </p:nvSpPr>
        <p:spPr>
          <a:xfrm>
            <a:off x="4526280" y="56235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e numéro 02"/>
          <p:cNvSpPr txBox="1"/>
          <p:nvPr/>
        </p:nvSpPr>
        <p:spPr>
          <a:xfrm>
            <a:off x="452628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e INTÉGRATION"/>
          <p:cNvSpPr txBox="1"/>
          <p:nvPr/>
        </p:nvSpPr>
        <p:spPr>
          <a:xfrm>
            <a:off x="3703320" y="2788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tests MockMvc sur H2, sans Docker.</a:t>
            </a:r>
            <a:endParaRPr lang="en-US" sz="1400" dirty="0"/>
          </a:p>
        </p:txBody>
      </p:sp>
      <p:sp>
        <p:nvSpPr>
          <p:cNvPr id="14" name="Flèche API"/>
          <p:cNvSpPr/>
          <p:nvPr/>
        </p:nvSpPr>
        <p:spPr>
          <a:xfrm>
            <a:off x="6492240" y="3337560"/>
            <a:ext cx="1920240" cy="2468880"/>
          </a:xfrm>
          <a:prstGeom prst="upArrow">
            <a:avLst/>
          </a:prstGeom>
          <a:solidFill>
            <a:schemeClr val="accent3"/>
          </a:solidFill>
          <a:ln/>
        </p:spPr>
      </p:sp>
      <p:pic>
        <p:nvPicPr>
          <p:cNvPr id="15" name="Pictogramme API" descr="post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749040"/>
            <a:ext cx="548640" cy="548640"/>
          </a:xfrm>
          <a:prstGeom prst="rect">
            <a:avLst/>
          </a:prstGeom>
        </p:spPr>
      </p:pic>
      <p:sp>
        <p:nvSpPr>
          <p:cNvPr id="16" name="Numéro 03"/>
          <p:cNvSpPr/>
          <p:nvPr/>
        </p:nvSpPr>
        <p:spPr>
          <a:xfrm>
            <a:off x="7223760" y="56235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7" name="Texte numéro 03"/>
          <p:cNvSpPr txBox="1"/>
          <p:nvPr/>
        </p:nvSpPr>
        <p:spPr>
          <a:xfrm>
            <a:off x="722376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e API"/>
          <p:cNvSpPr txBox="1"/>
          <p:nvPr/>
        </p:nvSpPr>
        <p:spPr>
          <a:xfrm>
            <a:off x="6400800" y="22402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et Bruno : 18 requêtes, 41 assertions.</a:t>
            </a:r>
            <a:endParaRPr lang="en-US" sz="1400" dirty="0"/>
          </a:p>
        </p:txBody>
      </p:sp>
      <p:sp>
        <p:nvSpPr>
          <p:cNvPr id="19" name="Flèche BOUT EN BOUT"/>
          <p:cNvSpPr/>
          <p:nvPr/>
        </p:nvSpPr>
        <p:spPr>
          <a:xfrm>
            <a:off x="9189720" y="2788920"/>
            <a:ext cx="1920240" cy="3017520"/>
          </a:xfrm>
          <a:prstGeom prst="upArrow">
            <a:avLst/>
          </a:prstGeom>
          <a:solidFill>
            <a:schemeClr val="accent5"/>
          </a:solidFill>
          <a:ln/>
        </p:spPr>
      </p:sp>
      <p:pic>
        <p:nvPicPr>
          <p:cNvPr id="20" name="Pictogramme BOUT EN BOUT" descr="rock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200400"/>
            <a:ext cx="548640" cy="548640"/>
          </a:xfrm>
          <a:prstGeom prst="rect">
            <a:avLst/>
          </a:prstGeom>
        </p:spPr>
      </p:pic>
      <p:sp>
        <p:nvSpPr>
          <p:cNvPr id="21" name="Numéro 04"/>
          <p:cNvSpPr/>
          <p:nvPr/>
        </p:nvSpPr>
        <p:spPr>
          <a:xfrm>
            <a:off x="9921240" y="56235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22" name="Texte numéro 04"/>
          <p:cNvSpPr txBox="1"/>
          <p:nvPr/>
        </p:nvSpPr>
        <p:spPr>
          <a:xfrm>
            <a:off x="99212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e BOUT EN BOUT"/>
          <p:cNvSpPr txBox="1"/>
          <p:nvPr/>
        </p:nvSpPr>
        <p:spPr>
          <a:xfrm>
            <a:off x="9098280" y="1691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 EN BOUT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e2e.sh : 32 contrôles sur toute la chaîne.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DÉMONSTRATION EN 3 MINUTES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étapes, un terminal, deux onglets.</a:t>
            </a:r>
            <a:endParaRPr lang="en-US" sz="1600" dirty="0"/>
          </a:p>
        </p:txBody>
      </p:sp>
      <p:sp>
        <p:nvSpPr>
          <p:cNvPr id="4" name="Fil de la démo"/>
          <p:cNvSpPr/>
          <p:nvPr/>
        </p:nvSpPr>
        <p:spPr>
          <a:xfrm>
            <a:off x="1371600" y="3090672"/>
            <a:ext cx="9509760" cy="45720"/>
          </a:xfrm>
          <a:prstGeom prst="rect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5" name="Icône db"/>
          <p:cNvSpPr/>
          <p:nvPr/>
        </p:nvSpPr>
        <p:spPr>
          <a:xfrm>
            <a:off x="960120" y="2514600"/>
            <a:ext cx="1188720" cy="11887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Pictogramme db" descr="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811780"/>
            <a:ext cx="594360" cy="594360"/>
          </a:xfrm>
          <a:prstGeom prst="rect">
            <a:avLst/>
          </a:prstGeom>
        </p:spPr>
      </p:pic>
      <p:sp>
        <p:nvSpPr>
          <p:cNvPr id="7" name="Minutage 0:00"/>
          <p:cNvSpPr/>
          <p:nvPr/>
        </p:nvSpPr>
        <p:spPr>
          <a:xfrm>
            <a:off x="1097280" y="388620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3886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INITIAL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9768" y="4754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db/verifier-bases.sh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303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lignes en source, cible vide</a:t>
            </a:r>
            <a:endParaRPr lang="en-US" sz="1300" dirty="0"/>
          </a:p>
        </p:txBody>
      </p:sp>
      <p:sp>
        <p:nvSpPr>
          <p:cNvPr id="12" name="Icône sync"/>
          <p:cNvSpPr/>
          <p:nvPr/>
        </p:nvSpPr>
        <p:spPr>
          <a:xfrm>
            <a:off x="3227832" y="2514600"/>
            <a:ext cx="1188720" cy="118872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Pictogramme sync" descr="sy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811780"/>
            <a:ext cx="594360" cy="594360"/>
          </a:xfrm>
          <a:prstGeom prst="rect">
            <a:avLst/>
          </a:prstGeom>
        </p:spPr>
      </p:pic>
      <p:sp>
        <p:nvSpPr>
          <p:cNvPr id="14" name="Minutage 0:30"/>
          <p:cNvSpPr/>
          <p:nvPr/>
        </p:nvSpPr>
        <p:spPr>
          <a:xfrm>
            <a:off x="3364992" y="388620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364992" y="3886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816352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697480" y="4754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etl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2816352" y="52303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lues, 29 chargées, 10 rejetées</a:t>
            </a:r>
            <a:endParaRPr lang="en-US" sz="1300" dirty="0"/>
          </a:p>
        </p:txBody>
      </p:sp>
      <p:sp>
        <p:nvSpPr>
          <p:cNvPr id="19" name="Icône search"/>
          <p:cNvSpPr/>
          <p:nvPr/>
        </p:nvSpPr>
        <p:spPr>
          <a:xfrm>
            <a:off x="5495544" y="2514600"/>
            <a:ext cx="1188720" cy="118872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Pictogramme search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811780"/>
            <a:ext cx="594360" cy="594360"/>
          </a:xfrm>
          <a:prstGeom prst="rect">
            <a:avLst/>
          </a:prstGeom>
        </p:spPr>
      </p:pic>
      <p:sp>
        <p:nvSpPr>
          <p:cNvPr id="21" name="Minutage 1:15"/>
          <p:cNvSpPr/>
          <p:nvPr/>
        </p:nvSpPr>
        <p:spPr>
          <a:xfrm>
            <a:off x="5632704" y="388620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632704" y="3886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084064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965192" y="4754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 UI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084064" y="52303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?categorie=informatique</a:t>
            </a:r>
            <a:endParaRPr lang="en-US" sz="1300" dirty="0"/>
          </a:p>
        </p:txBody>
      </p:sp>
      <p:sp>
        <p:nvSpPr>
          <p:cNvPr id="26" name="Icône play"/>
          <p:cNvSpPr/>
          <p:nvPr/>
        </p:nvSpPr>
        <p:spPr>
          <a:xfrm>
            <a:off x="7763256" y="2514600"/>
            <a:ext cx="1188720" cy="1188720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Pictogramme play" descr="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436" y="2811780"/>
            <a:ext cx="594360" cy="594360"/>
          </a:xfrm>
          <a:prstGeom prst="rect">
            <a:avLst/>
          </a:prstGeom>
        </p:spPr>
      </p:pic>
      <p:sp>
        <p:nvSpPr>
          <p:cNvPr id="28" name="Minutage 1:45"/>
          <p:cNvSpPr/>
          <p:nvPr/>
        </p:nvSpPr>
        <p:spPr>
          <a:xfrm>
            <a:off x="7900416" y="388620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900416" y="3886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1:45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351776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232904" y="4754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 Postman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7351776" y="52303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 puis 404, tout vert</a:t>
            </a:r>
            <a:endParaRPr lang="en-US" sz="1300" dirty="0"/>
          </a:p>
        </p:txBody>
      </p:sp>
      <p:sp>
        <p:nvSpPr>
          <p:cNvPr id="33" name="Icône prom"/>
          <p:cNvSpPr/>
          <p:nvPr/>
        </p:nvSpPr>
        <p:spPr>
          <a:xfrm>
            <a:off x="10030968" y="2514600"/>
            <a:ext cx="1188720" cy="118872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4" name="Pictogramme prom" descr="pr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2811780"/>
            <a:ext cx="594360" cy="594360"/>
          </a:xfrm>
          <a:prstGeom prst="rect">
            <a:avLst/>
          </a:prstGeom>
        </p:spPr>
      </p:pic>
      <p:sp>
        <p:nvSpPr>
          <p:cNvPr id="35" name="Minutage 2:30"/>
          <p:cNvSpPr/>
          <p:nvPr/>
        </p:nvSpPr>
        <p:spPr>
          <a:xfrm>
            <a:off x="10168128" y="388620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10168128" y="3886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2:30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619488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9500616" y="4754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9619488" y="52303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Cibles UP, compteurs en hausse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1280160" y="5989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 prêt : enregistrement vidéo de la même démonstration.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ET LEÇONS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1280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obstacles réels, quatre solutions documentées dans le rapport.</a:t>
            </a:r>
            <a:endParaRPr lang="en-US" sz="1600" dirty="0"/>
          </a:p>
        </p:txBody>
      </p:sp>
      <p:sp>
        <p:nvSpPr>
          <p:cNvPr id="4" name="Cercle TALEND ABANDONNÉ"/>
          <p:cNvSpPr/>
          <p:nvPr/>
        </p:nvSpPr>
        <p:spPr>
          <a:xfrm>
            <a:off x="937260" y="2354580"/>
            <a:ext cx="2331720" cy="2331720"/>
          </a:xfrm>
          <a:prstGeom prst="ellipse">
            <a:avLst/>
          </a:prstGeom>
          <a:solidFill>
            <a:schemeClr val="bg1"/>
          </a:solidFill>
          <a:ln w="1143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e TALEND ABANDONNÉ"/>
          <p:cNvSpPr txBox="1"/>
          <p:nvPr/>
        </p:nvSpPr>
        <p:spPr>
          <a:xfrm>
            <a:off x="123444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TALEND ABANDONNÉ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Remplacé par Apache Hop, autorisé par l'énoncé.</a:t>
            </a:r>
            <a:endParaRPr lang="en-US" sz="1300" dirty="0"/>
          </a:p>
        </p:txBody>
      </p:sp>
      <p:sp>
        <p:nvSpPr>
          <p:cNvPr id="6" name="Numéro 01"/>
          <p:cNvSpPr/>
          <p:nvPr/>
        </p:nvSpPr>
        <p:spPr>
          <a:xfrm>
            <a:off x="1819656" y="4791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e numéro 01"/>
          <p:cNvSpPr txBox="1"/>
          <p:nvPr/>
        </p:nvSpPr>
        <p:spPr>
          <a:xfrm>
            <a:off x="1819656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Cercle ACCENTS"/>
          <p:cNvSpPr/>
          <p:nvPr/>
        </p:nvSpPr>
        <p:spPr>
          <a:xfrm>
            <a:off x="3680460" y="2354580"/>
            <a:ext cx="2331720" cy="2331720"/>
          </a:xfrm>
          <a:prstGeom prst="ellipse">
            <a:avLst/>
          </a:prstGeom>
          <a:solidFill>
            <a:schemeClr val="bg1"/>
          </a:solidFill>
          <a:ln w="1143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e ACCENTS"/>
          <p:cNvSpPr txBox="1"/>
          <p:nvPr/>
        </p:nvSpPr>
        <p:spPr>
          <a:xfrm>
            <a:off x="397764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composant Hop ne les retire : script JavaScript.</a:t>
            </a:r>
            <a:endParaRPr lang="en-US" sz="1300" dirty="0"/>
          </a:p>
        </p:txBody>
      </p:sp>
      <p:sp>
        <p:nvSpPr>
          <p:cNvPr id="10" name="Numéro 02"/>
          <p:cNvSpPr/>
          <p:nvPr/>
        </p:nvSpPr>
        <p:spPr>
          <a:xfrm>
            <a:off x="4562856" y="479145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e numéro 02"/>
          <p:cNvSpPr txBox="1"/>
          <p:nvPr/>
        </p:nvSpPr>
        <p:spPr>
          <a:xfrm>
            <a:off x="4562856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Cercle PORTS OCCUPÉS"/>
          <p:cNvSpPr/>
          <p:nvPr/>
        </p:nvSpPr>
        <p:spPr>
          <a:xfrm>
            <a:off x="6423660" y="2354580"/>
            <a:ext cx="2331720" cy="2331720"/>
          </a:xfrm>
          <a:prstGeom prst="ellipse">
            <a:avLst/>
          </a:prstGeom>
          <a:solidFill>
            <a:schemeClr val="bg1"/>
          </a:solidFill>
          <a:ln w="1143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e PORTS OCCUPÉS"/>
          <p:cNvSpPr txBox="1"/>
          <p:nvPr/>
        </p:nvSpPr>
        <p:spPr>
          <a:xfrm>
            <a:off x="672084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OCCUPÉS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configurables dans .env (PG_PORT).</a:t>
            </a:r>
            <a:endParaRPr lang="en-US" sz="1300" dirty="0"/>
          </a:p>
        </p:txBody>
      </p:sp>
      <p:sp>
        <p:nvSpPr>
          <p:cNvPr id="14" name="Numéro 03"/>
          <p:cNvSpPr/>
          <p:nvPr/>
        </p:nvSpPr>
        <p:spPr>
          <a:xfrm>
            <a:off x="7306056" y="479145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e numéro 03"/>
          <p:cNvSpPr txBox="1"/>
          <p:nvPr/>
        </p:nvSpPr>
        <p:spPr>
          <a:xfrm>
            <a:off x="7306056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Cercle JAVA 27 ET LOMBOK"/>
          <p:cNvSpPr/>
          <p:nvPr/>
        </p:nvSpPr>
        <p:spPr>
          <a:xfrm>
            <a:off x="9166860" y="2354580"/>
            <a:ext cx="2331720" cy="2331720"/>
          </a:xfrm>
          <a:prstGeom prst="ellipse">
            <a:avLst/>
          </a:prstGeom>
          <a:solidFill>
            <a:schemeClr val="bg1"/>
          </a:solidFill>
          <a:ln w="1143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e JAVA 27 ET LOMBOK"/>
          <p:cNvSpPr txBox="1"/>
          <p:nvPr/>
        </p:nvSpPr>
        <p:spPr>
          <a:xfrm>
            <a:off x="946404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27 ET LOMBOK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 avec le JDK 17 visé par le projet.</a:t>
            </a:r>
            <a:endParaRPr lang="en-US" sz="1300" dirty="0"/>
          </a:p>
        </p:txBody>
      </p:sp>
      <p:sp>
        <p:nvSpPr>
          <p:cNvPr id="18" name="Numéro 04"/>
          <p:cNvSpPr/>
          <p:nvPr/>
        </p:nvSpPr>
        <p:spPr>
          <a:xfrm>
            <a:off x="10049256" y="479145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e numéro 04"/>
          <p:cNvSpPr txBox="1"/>
          <p:nvPr/>
        </p:nvSpPr>
        <p:spPr>
          <a:xfrm>
            <a:off x="10049256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760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schéma SQL et un fichier .env communs ont permis d'avancer en parallèle, sans blocage.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ET PERSPECTIVES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ferions avec plus de temps.</a:t>
            </a:r>
            <a:endParaRPr lang="en-US" sz="1600" dirty="0"/>
          </a:p>
        </p:txBody>
      </p:sp>
      <p:sp>
        <p:nvSpPr>
          <p:cNvPr id="4" name="Numéro 01"/>
          <p:cNvSpPr/>
          <p:nvPr/>
        </p:nvSpPr>
        <p:spPr>
          <a:xfrm>
            <a:off x="731520" y="2066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e numéro 01"/>
          <p:cNvSpPr txBox="1"/>
          <p:nvPr/>
        </p:nvSpPr>
        <p:spPr>
          <a:xfrm>
            <a:off x="7315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Étiquette SÉCURITÉ"/>
          <p:cNvSpPr/>
          <p:nvPr/>
        </p:nvSpPr>
        <p:spPr>
          <a:xfrm>
            <a:off x="1371600" y="2011680"/>
            <a:ext cx="3017520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011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116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d'authentification : ajouter Spring Security (JWT) et restreindre /actuator.</a:t>
            </a:r>
            <a:endParaRPr lang="en-US" sz="1400" dirty="0"/>
          </a:p>
        </p:txBody>
      </p:sp>
      <p:sp>
        <p:nvSpPr>
          <p:cNvPr id="9" name="Numéro 02"/>
          <p:cNvSpPr/>
          <p:nvPr/>
        </p:nvSpPr>
        <p:spPr>
          <a:xfrm>
            <a:off x="731520" y="28895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e numéro 02"/>
          <p:cNvSpPr txBox="1"/>
          <p:nvPr/>
        </p:nvSpPr>
        <p:spPr>
          <a:xfrm>
            <a:off x="73152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Étiquette ETL AUTOMATIQUE"/>
          <p:cNvSpPr/>
          <p:nvPr/>
        </p:nvSpPr>
        <p:spPr>
          <a:xfrm>
            <a:off x="1371600" y="2834640"/>
            <a:ext cx="3017520" cy="5669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2834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AUTOMATIQUE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346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Lancé à la demande : le planifier ou le déclencher à l'arrivée des données.</a:t>
            </a:r>
            <a:endParaRPr lang="en-US" sz="1400" dirty="0"/>
          </a:p>
        </p:txBody>
      </p:sp>
      <p:sp>
        <p:nvSpPr>
          <p:cNvPr id="14" name="Numéro 03"/>
          <p:cNvSpPr/>
          <p:nvPr/>
        </p:nvSpPr>
        <p:spPr>
          <a:xfrm>
            <a:off x="731520" y="371246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e numéro 03"/>
          <p:cNvSpPr txBox="1"/>
          <p:nvPr/>
        </p:nvSpPr>
        <p:spPr>
          <a:xfrm>
            <a:off x="73152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Étiquette SUPERVISION"/>
          <p:cNvSpPr/>
          <p:nvPr/>
        </p:nvSpPr>
        <p:spPr>
          <a:xfrm>
            <a:off x="1371600" y="3657600"/>
            <a:ext cx="3017520" cy="56692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3657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6576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des alertes (Alertmanager) et des tableaux de bord Grafana.</a:t>
            </a:r>
            <a:endParaRPr lang="en-US" sz="1400" dirty="0"/>
          </a:p>
        </p:txBody>
      </p:sp>
      <p:sp>
        <p:nvSpPr>
          <p:cNvPr id="19" name="Numéro 04"/>
          <p:cNvSpPr/>
          <p:nvPr/>
        </p:nvSpPr>
        <p:spPr>
          <a:xfrm>
            <a:off x="731520" y="45354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e numéro 04"/>
          <p:cNvSpPr txBox="1"/>
          <p:nvPr/>
        </p:nvSpPr>
        <p:spPr>
          <a:xfrm>
            <a:off x="73152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Étiquette TESTS"/>
          <p:cNvSpPr/>
          <p:nvPr/>
        </p:nvSpPr>
        <p:spPr>
          <a:xfrm>
            <a:off x="1371600" y="4480560"/>
            <a:ext cx="3017520" cy="56692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71600" y="4480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48056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Testcontainers (vrai PostgreSQL) et e2e.sh en intégration continue.</a:t>
            </a:r>
            <a:endParaRPr lang="en-US" sz="1400" dirty="0"/>
          </a:p>
        </p:txBody>
      </p:sp>
      <p:sp>
        <p:nvSpPr>
          <p:cNvPr id="24" name="Numéro 05"/>
          <p:cNvSpPr/>
          <p:nvPr/>
        </p:nvSpPr>
        <p:spPr>
          <a:xfrm>
            <a:off x="731520" y="535838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Texte numéro 05"/>
          <p:cNvSpPr txBox="1"/>
          <p:nvPr/>
        </p:nvSpPr>
        <p:spPr>
          <a:xfrm>
            <a:off x="73152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Étiquette ÉVOLUTION DE L'API"/>
          <p:cNvSpPr/>
          <p:nvPr/>
        </p:nvSpPr>
        <p:spPr>
          <a:xfrm>
            <a:off x="1371600" y="5303520"/>
            <a:ext cx="3017520" cy="56692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71600" y="5303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DE L'API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3035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par nom, tri configurable, suppression logique.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ment 1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6260000"/>
              <a:gd name="adj2" fmla="val 19740000"/>
              <a:gd name="adj3" fmla="val 18500"/>
            </a:avLst>
          </a:prstGeom>
          <a:solidFill>
            <a:schemeClr val="accent1"/>
          </a:solidFill>
          <a:ln/>
        </p:spPr>
      </p:sp>
      <p:sp>
        <p:nvSpPr>
          <p:cNvPr id="3" name="Segment 2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9860000"/>
              <a:gd name="adj2" fmla="val 1740000"/>
              <a:gd name="adj3" fmla="val 18500"/>
            </a:avLst>
          </a:prstGeom>
          <a:solidFill>
            <a:schemeClr val="accent2"/>
          </a:solidFill>
          <a:ln/>
        </p:spPr>
      </p:sp>
      <p:sp>
        <p:nvSpPr>
          <p:cNvPr id="4" name="Segment 3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860000"/>
              <a:gd name="adj2" fmla="val 5340000"/>
              <a:gd name="adj3" fmla="val 18500"/>
            </a:avLst>
          </a:prstGeom>
          <a:solidFill>
            <a:schemeClr val="accent6"/>
          </a:solidFill>
          <a:ln/>
        </p:spPr>
      </p:sp>
      <p:sp>
        <p:nvSpPr>
          <p:cNvPr id="5" name="Segment 4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5460000"/>
              <a:gd name="adj2" fmla="val 8940000"/>
              <a:gd name="adj3" fmla="val 18500"/>
            </a:avLst>
          </a:prstGeom>
          <a:solidFill>
            <a:schemeClr val="accent3"/>
          </a:solidFill>
          <a:ln/>
        </p:spPr>
      </p:sp>
      <p:sp>
        <p:nvSpPr>
          <p:cNvPr id="6" name="Segment 5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9060000"/>
              <a:gd name="adj2" fmla="val 12540000"/>
              <a:gd name="adj3" fmla="val 18500"/>
            </a:avLst>
          </a:prstGeom>
          <a:solidFill>
            <a:schemeClr val="accent4"/>
          </a:solidFill>
          <a:ln/>
        </p:spPr>
      </p:sp>
      <p:sp>
        <p:nvSpPr>
          <p:cNvPr id="7" name="Segment 6"/>
          <p:cNvSpPr/>
          <p:nvPr/>
        </p:nvSpPr>
        <p:spPr>
          <a:xfrm>
            <a:off x="3626968" y="777240"/>
            <a:ext cx="4937760" cy="4937760"/>
          </a:xfrm>
          <a:prstGeom prst="blockArc">
            <a:avLst>
              <a:gd name="adj1" fmla="val 12660000"/>
              <a:gd name="adj2" fmla="val 16140000"/>
              <a:gd name="adj3" fmla="val 18500"/>
            </a:avLst>
          </a:prstGeom>
          <a:solidFill>
            <a:schemeClr val="accent5"/>
          </a:solidFill>
          <a:ln/>
        </p:spPr>
      </p:sp>
      <p:sp>
        <p:nvSpPr>
          <p:cNvPr id="8" name="Disque central"/>
          <p:cNvSpPr/>
          <p:nvPr/>
        </p:nvSpPr>
        <p:spPr>
          <a:xfrm>
            <a:off x="4495648" y="1645920"/>
            <a:ext cx="3200400" cy="320040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Merci"/>
          <p:cNvSpPr txBox="1"/>
          <p:nvPr/>
        </p:nvSpPr>
        <p:spPr>
          <a:xfrm>
            <a:off x="4724248" y="2514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3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3800" dirty="0"/>
          </a:p>
        </p:txBody>
      </p:sp>
      <p:sp>
        <p:nvSpPr>
          <p:cNvPr id="10" name="Icône docker"/>
          <p:cNvSpPr/>
          <p:nvPr/>
        </p:nvSpPr>
        <p:spPr>
          <a:xfrm>
            <a:off x="6575908" y="978174"/>
            <a:ext cx="1051560" cy="10515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Pictogramme docker" descr="do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798" y="1241064"/>
            <a:ext cx="525780" cy="525780"/>
          </a:xfrm>
          <a:prstGeom prst="rect">
            <a:avLst/>
          </a:prstGeom>
        </p:spPr>
      </p:pic>
      <p:sp>
        <p:nvSpPr>
          <p:cNvPr id="12" name="Numéro 01"/>
          <p:cNvSpPr/>
          <p:nvPr/>
        </p:nvSpPr>
        <p:spPr>
          <a:xfrm>
            <a:off x="7837780" y="130278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e numéro 01"/>
          <p:cNvSpPr txBox="1"/>
          <p:nvPr/>
        </p:nvSpPr>
        <p:spPr>
          <a:xfrm>
            <a:off x="7837780" y="130278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e 6 SERVICES"/>
          <p:cNvSpPr txBox="1"/>
          <p:nvPr/>
        </p:nvSpPr>
        <p:spPr>
          <a:xfrm>
            <a:off x="8404708" y="90959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SERVICES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docker compose up -d --build.</a:t>
            </a:r>
            <a:endParaRPr lang="en-US" sz="1400" dirty="0"/>
          </a:p>
        </p:txBody>
      </p:sp>
      <p:sp>
        <p:nvSpPr>
          <p:cNvPr id="15" name="Icône postgres"/>
          <p:cNvSpPr/>
          <p:nvPr/>
        </p:nvSpPr>
        <p:spPr>
          <a:xfrm>
            <a:off x="7581748" y="2720340"/>
            <a:ext cx="1051560" cy="105156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Pictogramme postgres" descr="postg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638" y="2983230"/>
            <a:ext cx="525780" cy="525780"/>
          </a:xfrm>
          <a:prstGeom prst="rect">
            <a:avLst/>
          </a:prstGeom>
        </p:spPr>
      </p:pic>
      <p:sp>
        <p:nvSpPr>
          <p:cNvPr id="17" name="Numéro 02"/>
          <p:cNvSpPr/>
          <p:nvPr/>
        </p:nvSpPr>
        <p:spPr>
          <a:xfrm>
            <a:off x="8843620" y="304495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e numéro 02"/>
          <p:cNvSpPr txBox="1"/>
          <p:nvPr/>
        </p:nvSpPr>
        <p:spPr>
          <a:xfrm>
            <a:off x="884362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e 29 PRODUITS"/>
          <p:cNvSpPr txBox="1"/>
          <p:nvPr/>
        </p:nvSpPr>
        <p:spPr>
          <a:xfrm>
            <a:off x="9410548" y="2651760"/>
            <a:ext cx="23239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PRODUITS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Chargés, avec 10 rejets motivés.</a:t>
            </a:r>
            <a:endParaRPr lang="en-US" sz="1400" dirty="0"/>
          </a:p>
        </p:txBody>
      </p:sp>
      <p:sp>
        <p:nvSpPr>
          <p:cNvPr id="20" name="Icône junit"/>
          <p:cNvSpPr/>
          <p:nvPr/>
        </p:nvSpPr>
        <p:spPr>
          <a:xfrm>
            <a:off x="6575908" y="4462506"/>
            <a:ext cx="1051560" cy="1051560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Pictogramme junit" descr="jun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798" y="4725396"/>
            <a:ext cx="525780" cy="525780"/>
          </a:xfrm>
          <a:prstGeom prst="rect">
            <a:avLst/>
          </a:prstGeom>
        </p:spPr>
      </p:pic>
      <p:sp>
        <p:nvSpPr>
          <p:cNvPr id="22" name="Numéro 03"/>
          <p:cNvSpPr/>
          <p:nvPr/>
        </p:nvSpPr>
        <p:spPr>
          <a:xfrm>
            <a:off x="7837780" y="4787118"/>
            <a:ext cx="402336" cy="40233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Texte numéro 03"/>
          <p:cNvSpPr txBox="1"/>
          <p:nvPr/>
        </p:nvSpPr>
        <p:spPr>
          <a:xfrm>
            <a:off x="7837780" y="478711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e 27 TESTS JAVA"/>
          <p:cNvSpPr txBox="1"/>
          <p:nvPr/>
        </p:nvSpPr>
        <p:spPr>
          <a:xfrm>
            <a:off x="8404708" y="4393926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TESTS JAVA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Unitaires et d'intégration, sans Docker.</a:t>
            </a:r>
            <a:endParaRPr lang="en-US" sz="1400" dirty="0"/>
          </a:p>
        </p:txBody>
      </p:sp>
      <p:sp>
        <p:nvSpPr>
          <p:cNvPr id="25" name="Icône postman"/>
          <p:cNvSpPr/>
          <p:nvPr/>
        </p:nvSpPr>
        <p:spPr>
          <a:xfrm>
            <a:off x="4564228" y="4462506"/>
            <a:ext cx="1051560" cy="1051560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Pictogramme postman" descr="post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118" y="4725396"/>
            <a:ext cx="525780" cy="525780"/>
          </a:xfrm>
          <a:prstGeom prst="rect">
            <a:avLst/>
          </a:prstGeom>
        </p:spPr>
      </p:pic>
      <p:sp>
        <p:nvSpPr>
          <p:cNvPr id="27" name="Numéro 04"/>
          <p:cNvSpPr/>
          <p:nvPr/>
        </p:nvSpPr>
        <p:spPr>
          <a:xfrm>
            <a:off x="3951580" y="4787118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e numéro 04"/>
          <p:cNvSpPr txBox="1"/>
          <p:nvPr/>
        </p:nvSpPr>
        <p:spPr>
          <a:xfrm>
            <a:off x="3951580" y="478711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e 18 REQUÊTES"/>
          <p:cNvSpPr txBox="1"/>
          <p:nvPr/>
        </p:nvSpPr>
        <p:spPr>
          <a:xfrm>
            <a:off x="678028" y="4393926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REQUÊTES</a:t>
            </a:r>
            <a:endParaRPr lang="en-US" sz="14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et Bruno, 41 assertions.</a:t>
            </a:r>
            <a:endParaRPr lang="en-US" sz="1400" dirty="0"/>
          </a:p>
        </p:txBody>
      </p:sp>
      <p:sp>
        <p:nvSpPr>
          <p:cNvPr id="30" name="Icône rocket"/>
          <p:cNvSpPr/>
          <p:nvPr/>
        </p:nvSpPr>
        <p:spPr>
          <a:xfrm>
            <a:off x="3558388" y="2720340"/>
            <a:ext cx="1051560" cy="1051560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Pictogramme rocket" descr="rock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278" y="2983230"/>
            <a:ext cx="525780" cy="525780"/>
          </a:xfrm>
          <a:prstGeom prst="rect">
            <a:avLst/>
          </a:prstGeom>
        </p:spPr>
      </p:pic>
      <p:sp>
        <p:nvSpPr>
          <p:cNvPr id="32" name="Numéro 05"/>
          <p:cNvSpPr/>
          <p:nvPr/>
        </p:nvSpPr>
        <p:spPr>
          <a:xfrm>
            <a:off x="2945740" y="304495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Texte numéro 05"/>
          <p:cNvSpPr txBox="1"/>
          <p:nvPr/>
        </p:nvSpPr>
        <p:spPr>
          <a:xfrm>
            <a:off x="294574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e 32 CONTRÔLES"/>
          <p:cNvSpPr txBox="1"/>
          <p:nvPr/>
        </p:nvSpPr>
        <p:spPr>
          <a:xfrm>
            <a:off x="457200" y="2651760"/>
            <a:ext cx="23239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CONTRÔLES</a:t>
            </a:r>
            <a:endParaRPr lang="en-US" sz="14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 bout en bout depuis zéro.</a:t>
            </a:r>
            <a:endParaRPr lang="en-US" sz="1400" dirty="0"/>
          </a:p>
        </p:txBody>
      </p:sp>
      <p:sp>
        <p:nvSpPr>
          <p:cNvPr id="35" name="Icône diagram"/>
          <p:cNvSpPr/>
          <p:nvPr/>
        </p:nvSpPr>
        <p:spPr>
          <a:xfrm>
            <a:off x="4564228" y="978174"/>
            <a:ext cx="1051560" cy="105156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Pictogramme diagram" descr="diagr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118" y="1241064"/>
            <a:ext cx="525780" cy="525780"/>
          </a:xfrm>
          <a:prstGeom prst="rect">
            <a:avLst/>
          </a:prstGeom>
        </p:spPr>
      </p:pic>
      <p:sp>
        <p:nvSpPr>
          <p:cNvPr id="37" name="Numéro 06"/>
          <p:cNvSpPr/>
          <p:nvPr/>
        </p:nvSpPr>
        <p:spPr>
          <a:xfrm>
            <a:off x="3951580" y="1302786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8" name="Texte numéro 06"/>
          <p:cNvSpPr txBox="1"/>
          <p:nvPr/>
        </p:nvSpPr>
        <p:spPr>
          <a:xfrm>
            <a:off x="3951580" y="130278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e 1 CHAÎNE"/>
          <p:cNvSpPr txBox="1"/>
          <p:nvPr/>
        </p:nvSpPr>
        <p:spPr>
          <a:xfrm>
            <a:off x="678028" y="90959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CHAÎNE</a:t>
            </a:r>
            <a:endParaRPr lang="en-US" sz="14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Hop, PostgreSQL, API, Prometheus.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github.com/leilabougouma/Projet_develop_composant-Groupe1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t Produits">
  <a:themeElements>
    <a:clrScheme name="Projet Produits">
      <a:dk1>
        <a:srgbClr val="0B0B0B"/>
      </a:dk1>
      <a:lt1>
        <a:srgbClr val="FFFFFF"/>
      </a:lt1>
      <a:dk2>
        <a:srgbClr val="6B6B6B"/>
      </a:dk2>
      <a:lt2>
        <a:srgbClr val="F8F6F2"/>
      </a:lt2>
      <a:accent1>
        <a:srgbClr val="74B6F7"/>
      </a:accent1>
      <a:accent2>
        <a:srgbClr val="00D0DC"/>
      </a:accent2>
      <a:accent3>
        <a:srgbClr val="84D65A"/>
      </a:accent3>
      <a:accent4>
        <a:srgbClr val="BFCF2D"/>
      </a:accent4>
      <a:accent5>
        <a:srgbClr val="FBBF24"/>
      </a:accent5>
      <a:accent6>
        <a:srgbClr val="00D4B4"/>
      </a:accent6>
      <a:hlink>
        <a:srgbClr val="1F6FEB"/>
      </a:hlink>
      <a:folHlink>
        <a:srgbClr val="6B6B6B"/>
      </a:folHlink>
    </a:clrScheme>
    <a:fontScheme name="Projet Produi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M1 IBAM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REST de produits — Spring Boot, Apache Hop et Prometheus</dc:title>
  <dc:subject>PptxGenJS Presentation</dc:subject>
  <dc:creator>Groupe 1</dc:creator>
  <cp:lastModifiedBy>Groupe 1</cp:lastModifiedBy>
  <cp:revision>1</cp:revision>
  <dcterms:created xsi:type="dcterms:W3CDTF">2026-10-29T17:11:35Z</dcterms:created>
  <dcterms:modified xsi:type="dcterms:W3CDTF">2026-10-29T17:11:35Z</dcterms:modified>
</cp:coreProperties>
</file>